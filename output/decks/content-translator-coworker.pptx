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824"/>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A1824"/>
              </a:gs>
              <a:gs pos="48000">
                <a:srgbClr val="1A1824"/>
              </a:gs>
              <a:gs pos="78000">
                <a:srgbClr val="731EF2"/>
              </a:gs>
              <a:gs pos="100000">
                <a:srgbClr val="C326E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martcat-logo-white.png"/>
          <p:cNvPicPr>
            <a:picLocks noChangeAspect="1"/>
          </p:cNvPicPr>
          <p:nvPr/>
        </p:nvPicPr>
        <p:blipFill>
          <a:blip r:embed="rId2"/>
          <a:stretch>
            <a:fillRect/>
          </a:stretch>
        </p:blipFill>
        <p:spPr>
          <a:xfrm>
            <a:off x="457200" y="457200"/>
            <a:ext cx="1318846" cy="228600"/>
          </a:xfrm>
          <a:prstGeom prst="rect">
            <a:avLst/>
          </a:prstGeom>
          <a:effectLst/>
        </p:spPr>
      </p:pic>
      <p:sp>
        <p:nvSpPr>
          <p:cNvPr id="4" name="TextBox 3"/>
          <p:cNvSpPr txBox="1"/>
          <p:nvPr/>
        </p:nvSpPr>
        <p:spPr>
          <a:xfrm>
            <a:off x="457200" y="3048000"/>
            <a:ext cx="11277600" cy="2095500"/>
          </a:xfrm>
          <a:prstGeom prst="rect">
            <a:avLst/>
          </a:prstGeom>
          <a:noFill/>
          <a:effectLst/>
        </p:spPr>
        <p:txBody>
          <a:bodyPr wrap="square" lIns="0" rIns="0" tIns="0" bIns="0">
            <a:spAutoFit/>
          </a:bodyPr>
          <a:lstStyle/>
          <a:p>
            <a:r>
              <a:rPr sz="4800" b="1">
                <a:solidFill>
                  <a:srgbClr val="FFFFFF"/>
                </a:solidFill>
                <a:latin typeface="Plus Jakarta Sans"/>
              </a:rPr>
              <a:t>Content Translator Coworker</a:t>
            </a:r>
          </a:p>
          <a:p>
            <a:pPr>
              <a:lnSpc>
                <a:spcPct val="115000"/>
              </a:lnSpc>
              <a:spcBef>
                <a:spcPts val="1200"/>
              </a:spcBef>
            </a:pPr>
            <a:r>
              <a:rPr sz="1350" b="0">
                <a:solidFill>
                  <a:srgbClr val="C5B3FC"/>
                </a:solidFill>
                <a:latin typeface="Inter"/>
              </a:rPr>
              <a:t>Any content, any format — into 280+ languages.</a:t>
            </a:r>
          </a:p>
        </p:txBody>
      </p:sp>
      <p:sp>
        <p:nvSpPr>
          <p:cNvPr id="5" name="TextBox 4"/>
          <p:cNvSpPr txBox="1"/>
          <p:nvPr/>
        </p:nvSpPr>
        <p:spPr>
          <a:xfrm>
            <a:off x="457200" y="6210300"/>
            <a:ext cx="11277600" cy="190500"/>
          </a:xfrm>
          <a:prstGeom prst="rect">
            <a:avLst/>
          </a:prstGeom>
          <a:noFill/>
          <a:effectLst/>
        </p:spPr>
        <p:txBody>
          <a:bodyPr wrap="square" lIns="0" rIns="0" tIns="0" bIns="0">
            <a:spAutoFit/>
          </a:bodyPr>
          <a:lstStyle/>
          <a:p>
            <a:r>
              <a:rPr sz="1050" b="0">
                <a:solidFill>
                  <a:srgbClr val="EDB7FB"/>
                </a:solidFill>
                <a:latin typeface="Inter"/>
              </a:rPr>
              <a:t>Smartcat AI Coworkers · Product overview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1277600" cy="1104900"/>
          </a:xfrm>
          <a:prstGeom prst="rect">
            <a:avLst/>
          </a:prstGeom>
          <a:noFill/>
          <a:effectLst/>
        </p:spPr>
        <p:txBody>
          <a:bodyPr wrap="square" lIns="0" rIns="0" tIns="0" bIns="0">
            <a:spAutoFit/>
          </a:bodyPr>
          <a:lstStyle/>
          <a:p>
            <a:r>
              <a:rPr sz="3600" b="1">
                <a:solidFill>
                  <a:srgbClr val="13101C"/>
                </a:solidFill>
                <a:latin typeface="Plus Jakarta Sans"/>
              </a:rPr>
              <a:t>Tell it what you need. It takes the job from there.</a:t>
            </a:r>
          </a:p>
        </p:txBody>
      </p:sp>
      <p:sp>
        <p:nvSpPr>
          <p:cNvPr id="3" name="TextBox 2"/>
          <p:cNvSpPr txBox="1"/>
          <p:nvPr/>
        </p:nvSpPr>
        <p:spPr>
          <a:xfrm>
            <a:off x="457200" y="2004483"/>
            <a:ext cx="4394200" cy="4396317"/>
          </a:xfrm>
          <a:prstGeom prst="rect">
            <a:avLst/>
          </a:prstGeom>
          <a:noFill/>
          <a:effectLst/>
        </p:spPr>
        <p:txBody>
          <a:bodyPr wrap="square" lIns="0" rIns="0" tIns="0" bIns="0">
            <a:spAutoFit/>
          </a:bodyPr>
          <a:lstStyle/>
          <a:p>
            <a:pPr>
              <a:lnSpc>
                <a:spcPct val="115000"/>
              </a:lnSpc>
            </a:pPr>
            <a:r>
              <a:rPr sz="1350" b="0">
                <a:solidFill>
                  <a:srgbClr val="535065"/>
                </a:solidFill>
                <a:latin typeface="Inter"/>
              </a:rPr>
              <a:t>Your Content Translator Coworker translates and localizes any content — from documents, video, and images to SCORM courses and UI strings — into 280+ languages. It applies your brand voice and terminology, checks its own quality against your criteria, and routes the finished result.</a:t>
            </a:r>
          </a:p>
        </p:txBody>
      </p:sp>
      <p:sp>
        <p:nvSpPr>
          <p:cNvPr id="4" name="Rounded Rectangle 3"/>
          <p:cNvSpPr/>
          <p:nvPr/>
        </p:nvSpPr>
        <p:spPr>
          <a:xfrm>
            <a:off x="5461000" y="2004483"/>
            <a:ext cx="6273800" cy="4182533"/>
          </a:xfrm>
          <a:prstGeom prst="roundRect">
            <a:avLst>
              <a:gd name="adj" fmla="val 4000"/>
            </a:avLst>
          </a:prstGeom>
          <a:solidFill>
            <a:srgbClr val="F4F5F8"/>
          </a:solidFill>
          <a:ln w="15875">
            <a:solidFill>
              <a:srgbClr val="731EF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1" name="icon-image-10001"/>
          <p:cNvSpPr/>
          <p:nvPr/>
        </p:nvSpPr>
        <p:spPr>
          <a:xfrm>
            <a:off x="8445500" y="3724275"/>
            <a:ext cx="304800" cy="304800"/>
          </a:xfrm>
          <a:custGeom>
            <a:avLst/>
            <a:gdLst/>
            <a:ahLst/>
            <a:cxnLst/>
            <a:rect l="0" t="0" r="0" b="0"/>
            <a:pathLst>
              <a:path w="24000" h="24000" fill="none" stroke="1">
                <a:moveTo>
                  <a:pt x="3000" y="19000"/>
                </a:moveTo>
                <a:lnTo>
                  <a:pt x="7929" y="14071"/>
                </a:lnTo>
                <a:cubicBezTo>
                  <a:pt x="7968" y="14032"/>
                  <a:pt x="8032" y="14032"/>
                  <a:pt x="8071" y="14071"/>
                </a:cubicBezTo>
                <a:lnTo>
                  <a:pt x="10429" y="16429"/>
                </a:lnTo>
                <a:cubicBezTo>
                  <a:pt x="10468" y="16468"/>
                  <a:pt x="10532" y="16468"/>
                  <a:pt x="10571" y="16429"/>
                </a:cubicBezTo>
                <a:lnTo>
                  <a:pt x="16429" y="10571"/>
                </a:lnTo>
                <a:cubicBezTo>
                  <a:pt x="16468" y="10532"/>
                  <a:pt x="16532" y="10532"/>
                  <a:pt x="16571" y="10571"/>
                </a:cubicBezTo>
                <a:lnTo>
                  <a:pt x="21500" y="15500"/>
                </a:lnTo>
                <a:moveTo>
                  <a:pt x="20000" y="20000"/>
                </a:moveTo>
                <a:lnTo>
                  <a:pt x="4000" y="20000"/>
                </a:lnTo>
                <a:cubicBezTo>
                  <a:pt x="2895" y="20000"/>
                  <a:pt x="2000" y="19105"/>
                  <a:pt x="2000" y="18000"/>
                </a:cubicBezTo>
                <a:lnTo>
                  <a:pt x="2000" y="6000"/>
                </a:lnTo>
                <a:cubicBezTo>
                  <a:pt x="2000" y="4895"/>
                  <a:pt x="2895" y="4000"/>
                  <a:pt x="4000" y="4000"/>
                </a:cubicBezTo>
                <a:lnTo>
                  <a:pt x="20000" y="4000"/>
                </a:lnTo>
                <a:cubicBezTo>
                  <a:pt x="21105" y="4000"/>
                  <a:pt x="22000" y="4895"/>
                  <a:pt x="22000" y="6000"/>
                </a:cubicBezTo>
                <a:lnTo>
                  <a:pt x="22000" y="18000"/>
                </a:lnTo>
                <a:cubicBezTo>
                  <a:pt x="22000" y="19105"/>
                  <a:pt x="21105" y="20000"/>
                  <a:pt x="20000" y="20000"/>
                </a:cubicBezTo>
                <a:close/>
                <a:moveTo>
                  <a:pt x="10000" y="9000"/>
                </a:moveTo>
                <a:cubicBezTo>
                  <a:pt x="10000" y="10105"/>
                  <a:pt x="9105" y="11000"/>
                  <a:pt x="8000" y="11000"/>
                </a:cubicBezTo>
                <a:cubicBezTo>
                  <a:pt x="6895" y="11000"/>
                  <a:pt x="6000" y="10105"/>
                  <a:pt x="6000" y="9000"/>
                </a:cubicBezTo>
                <a:cubicBezTo>
                  <a:pt x="6000" y="7895"/>
                  <a:pt x="6895" y="7000"/>
                  <a:pt x="8000" y="7000"/>
                </a:cubicBezTo>
                <a:cubicBezTo>
                  <a:pt x="9105" y="7000"/>
                  <a:pt x="10000" y="7895"/>
                  <a:pt x="10000" y="9000"/>
                </a:cubicBezTo>
                <a:close/>
              </a:path>
            </a:pathLst>
          </a:custGeom>
          <a:noFill/>
          <a:ln w="25400" cap="rnd">
            <a:solidFill>
              <a:srgbClr val="731EF2"/>
            </a:solidFill>
            <a:round/>
          </a:ln>
          <a:effectLst/>
        </p:spPr>
        <p:txBody>
          <a:bodyPr/>
          <a:lstStyle/>
          <a:p/>
        </p:txBody>
      </p:sp>
      <p:sp>
        <p:nvSpPr>
          <p:cNvPr id="10002" name="TextBox 10001"/>
          <p:cNvSpPr txBox="1"/>
          <p:nvPr/>
        </p:nvSpPr>
        <p:spPr>
          <a:xfrm>
            <a:off x="5613400" y="4105275"/>
            <a:ext cx="5969000" cy="190500"/>
          </a:xfrm>
          <a:prstGeom prst="rect">
            <a:avLst/>
          </a:prstGeom>
          <a:noFill/>
          <a:effectLst/>
        </p:spPr>
        <p:txBody>
          <a:bodyPr wrap="square" lIns="0" rIns="0" tIns="0" bIns="0">
            <a:spAutoFit/>
          </a:bodyPr>
          <a:lstStyle/>
          <a:p>
            <a:pPr algn="ctr"/>
            <a:r>
              <a:rPr sz="1050" b="1">
                <a:solidFill>
                  <a:srgbClr val="13101C"/>
                </a:solidFill>
                <a:latin typeface="Inter"/>
              </a:rPr>
              <a:t>A file dropped into the Content Translator Coworker conversation</a:t>
            </a:r>
          </a:p>
        </p:txBody>
      </p:sp>
      <p:sp>
        <p:nvSpPr>
          <p:cNvPr id="10003" name="TextBox 10002"/>
          <p:cNvSpPr txBox="1"/>
          <p:nvPr/>
        </p:nvSpPr>
        <p:spPr>
          <a:xfrm>
            <a:off x="5613400" y="4295775"/>
            <a:ext cx="5969000" cy="171450"/>
          </a:xfrm>
          <a:prstGeom prst="rect">
            <a:avLst/>
          </a:prstGeom>
          <a:noFill/>
          <a:effectLst/>
        </p:spPr>
        <p:txBody>
          <a:bodyPr wrap="square" lIns="0" rIns="0" tIns="0" bIns="0">
            <a:spAutoFit/>
          </a:bodyPr>
          <a:lstStyle/>
          <a:p>
            <a:pPr algn="ctr"/>
            <a:r>
              <a:rPr sz="1050" b="0">
                <a:solidFill>
                  <a:srgbClr val="535065"/>
                </a:solidFill>
                <a:latin typeface="Inter"/>
              </a:rPr>
              <a:t>659 × 439 px ·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1277600" cy="571500"/>
          </a:xfrm>
          <a:prstGeom prst="rect">
            <a:avLst/>
          </a:prstGeom>
          <a:noFill/>
          <a:effectLst/>
        </p:spPr>
        <p:txBody>
          <a:bodyPr wrap="square" lIns="0" rIns="0" tIns="0" bIns="0">
            <a:spAutoFit/>
          </a:bodyPr>
          <a:lstStyle/>
          <a:p>
            <a:r>
              <a:rPr sz="3600" b="1">
                <a:solidFill>
                  <a:srgbClr val="13101C"/>
                </a:solidFill>
                <a:latin typeface="Plus Jakarta Sans"/>
              </a:rPr>
              <a:t>Any content. Your voice. Your sign-off.</a:t>
            </a:r>
          </a:p>
        </p:txBody>
      </p:sp>
      <p:sp>
        <p:nvSpPr>
          <p:cNvPr id="3" name="Rounded Rectangle 2"/>
          <p:cNvSpPr/>
          <p:nvPr/>
        </p:nvSpPr>
        <p:spPr>
          <a:xfrm>
            <a:off x="457200" y="2391251"/>
            <a:ext cx="3708400" cy="2856548"/>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2619851"/>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2" name="icon-folder-10002"/>
          <p:cNvSpPr/>
          <p:nvPr/>
        </p:nvSpPr>
        <p:spPr>
          <a:xfrm>
            <a:off x="819150" y="2753201"/>
            <a:ext cx="266700" cy="266700"/>
          </a:xfrm>
          <a:custGeom>
            <a:avLst/>
            <a:gdLst/>
            <a:ahLst/>
            <a:cxnLst/>
            <a:rect l="0" t="0" r="0" b="0"/>
            <a:pathLst>
              <a:path w="24000" h="24000" fill="none" stroke="1">
                <a:moveTo>
                  <a:pt x="20000" y="9500"/>
                </a:moveTo>
                <a:lnTo>
                  <a:pt x="20000" y="8000"/>
                </a:lnTo>
                <a:cubicBezTo>
                  <a:pt x="20000" y="6895"/>
                  <a:pt x="19105" y="6000"/>
                  <a:pt x="18000" y="6000"/>
                </a:cubicBezTo>
                <a:lnTo>
                  <a:pt x="11828" y="6000"/>
                </a:lnTo>
                <a:cubicBezTo>
                  <a:pt x="11298" y="6000"/>
                  <a:pt x="10789" y="5789"/>
                  <a:pt x="10414" y="5414"/>
                </a:cubicBezTo>
                <a:lnTo>
                  <a:pt x="9586" y="4586"/>
                </a:lnTo>
                <a:cubicBezTo>
                  <a:pt x="9211" y="4211"/>
                  <a:pt x="8702" y="4000"/>
                  <a:pt x="8172" y="4000"/>
                </a:cubicBezTo>
                <a:lnTo>
                  <a:pt x="4000" y="4000"/>
                </a:lnTo>
                <a:cubicBezTo>
                  <a:pt x="2895" y="4000"/>
                  <a:pt x="2000" y="4895"/>
                  <a:pt x="2000" y="6000"/>
                </a:cubicBezTo>
                <a:lnTo>
                  <a:pt x="2000" y="18000"/>
                </a:lnTo>
                <a:cubicBezTo>
                  <a:pt x="2000" y="19105"/>
                  <a:pt x="2895" y="20000"/>
                  <a:pt x="4000" y="20000"/>
                </a:cubicBezTo>
                <a:lnTo>
                  <a:pt x="7000" y="20000"/>
                </a:lnTo>
                <a:moveTo>
                  <a:pt x="18920" y="20000"/>
                </a:moveTo>
                <a:lnTo>
                  <a:pt x="5266" y="20000"/>
                </a:lnTo>
                <a:cubicBezTo>
                  <a:pt x="4620" y="20000"/>
                  <a:pt x="4144" y="19397"/>
                  <a:pt x="4293" y="18768"/>
                </a:cubicBezTo>
                <a:lnTo>
                  <a:pt x="6134" y="11037"/>
                </a:lnTo>
                <a:cubicBezTo>
                  <a:pt x="6349" y="10136"/>
                  <a:pt x="7154" y="9500"/>
                  <a:pt x="8080" y="9500"/>
                </a:cubicBezTo>
                <a:lnTo>
                  <a:pt x="20468" y="9500"/>
                </a:lnTo>
                <a:cubicBezTo>
                  <a:pt x="21760" y="9500"/>
                  <a:pt x="22713" y="10706"/>
                  <a:pt x="22414" y="11963"/>
                </a:cubicBezTo>
                <a:lnTo>
                  <a:pt x="20866" y="18463"/>
                </a:lnTo>
                <a:cubicBezTo>
                  <a:pt x="20651" y="19364"/>
                  <a:pt x="19846" y="20000"/>
                  <a:pt x="18920" y="20000"/>
                </a:cubicBezTo>
                <a:close/>
              </a:path>
            </a:pathLst>
          </a:custGeom>
          <a:noFill/>
          <a:ln w="22225" cap="rnd">
            <a:solidFill>
              <a:srgbClr val="731EF2"/>
            </a:solidFill>
            <a:round/>
          </a:ln>
          <a:effectLst/>
        </p:spPr>
        <p:txBody>
          <a:bodyPr/>
          <a:lstStyle/>
          <a:p/>
        </p:txBody>
      </p:sp>
      <p:sp>
        <p:nvSpPr>
          <p:cNvPr id="10003" name="TextBox 10002"/>
          <p:cNvSpPr txBox="1"/>
          <p:nvPr/>
        </p:nvSpPr>
        <p:spPr>
          <a:xfrm>
            <a:off x="685800" y="3381851"/>
            <a:ext cx="3251200" cy="1637347"/>
          </a:xfrm>
          <a:prstGeom prst="rect">
            <a:avLst/>
          </a:prstGeom>
          <a:noFill/>
          <a:effectLst/>
        </p:spPr>
        <p:txBody>
          <a:bodyPr wrap="square" lIns="0" rIns="0" tIns="0" bIns="0">
            <a:spAutoFit/>
          </a:bodyPr>
          <a:lstStyle/>
          <a:p>
            <a:r>
              <a:rPr sz="1800" b="1">
                <a:solidFill>
                  <a:srgbClr val="13101C"/>
                </a:solidFill>
                <a:latin typeface="Plus Jakarta Sans"/>
              </a:rPr>
              <a:t>Any content, in any format</a:t>
            </a:r>
          </a:p>
          <a:p>
            <a:pPr>
              <a:lnSpc>
                <a:spcPct val="115000"/>
              </a:lnSpc>
              <a:spcBef>
                <a:spcPts val="800"/>
              </a:spcBef>
            </a:pPr>
            <a:r>
              <a:rPr sz="1050" b="0">
                <a:solidFill>
                  <a:srgbClr val="535065"/>
                </a:solidFill>
                <a:latin typeface="Inter"/>
              </a:rPr>
              <a:t>Drop in a file, a link, or a description. It accepts 80+ file formats and content sources directly in the conversation — docs, web pages, product feeds, courses, UI strings.</a:t>
            </a:r>
          </a:p>
        </p:txBody>
      </p:sp>
      <p:sp>
        <p:nvSpPr>
          <p:cNvPr id="10004" name="Rounded Rectangle 10003"/>
          <p:cNvSpPr/>
          <p:nvPr/>
        </p:nvSpPr>
        <p:spPr>
          <a:xfrm>
            <a:off x="4241800" y="2391251"/>
            <a:ext cx="3708400" cy="2856548"/>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5" name="Oval 10004"/>
          <p:cNvSpPr/>
          <p:nvPr/>
        </p:nvSpPr>
        <p:spPr>
          <a:xfrm>
            <a:off x="4470400" y="2619851"/>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3" name="icon-translation-10003"/>
          <p:cNvSpPr/>
          <p:nvPr/>
        </p:nvSpPr>
        <p:spPr>
          <a:xfrm>
            <a:off x="4603750" y="2753201"/>
            <a:ext cx="266700" cy="266700"/>
          </a:xfrm>
          <a:custGeom>
            <a:avLst/>
            <a:gdLst/>
            <a:ahLst/>
            <a:cxnLst/>
            <a:rect l="0" t="0" r="0" b="0"/>
            <a:pathLst>
              <a:path w="24000" h="24000" fill="none" stroke="1">
                <a:moveTo>
                  <a:pt x="10500" y="20500"/>
                </a:moveTo>
                <a:lnTo>
                  <a:pt x="11883" y="17230"/>
                </a:lnTo>
                <a:moveTo>
                  <a:pt x="21500" y="20500"/>
                </a:moveTo>
                <a:lnTo>
                  <a:pt x="20117" y="17230"/>
                </a:lnTo>
                <a:lnTo>
                  <a:pt x="16511" y="8707"/>
                </a:lnTo>
                <a:cubicBezTo>
                  <a:pt x="16320" y="8256"/>
                  <a:pt x="15680" y="8256"/>
                  <a:pt x="15489" y="8707"/>
                </a:cubicBezTo>
                <a:lnTo>
                  <a:pt x="11883" y="17230"/>
                </a:lnTo>
                <a:moveTo>
                  <a:pt x="11883" y="17230"/>
                </a:moveTo>
                <a:lnTo>
                  <a:pt x="20117" y="17230"/>
                </a:lnTo>
                <a:moveTo>
                  <a:pt x="2000" y="15000"/>
                </a:moveTo>
                <a:cubicBezTo>
                  <a:pt x="8600" y="12500"/>
                  <a:pt x="11000" y="9000"/>
                  <a:pt x="11000" y="5000"/>
                </a:cubicBezTo>
                <a:moveTo>
                  <a:pt x="12500" y="15000"/>
                </a:moveTo>
                <a:cubicBezTo>
                  <a:pt x="7586" y="13139"/>
                  <a:pt x="5501" y="10764"/>
                  <a:pt x="4500" y="8000"/>
                </a:cubicBezTo>
                <a:cubicBezTo>
                  <a:pt x="4386" y="7685"/>
                  <a:pt x="4292" y="7365"/>
                  <a:pt x="4218" y="7040"/>
                </a:cubicBezTo>
                <a:moveTo>
                  <a:pt x="2000" y="4500"/>
                </a:moveTo>
                <a:lnTo>
                  <a:pt x="7500" y="4500"/>
                </a:lnTo>
                <a:moveTo>
                  <a:pt x="7500" y="4500"/>
                </a:moveTo>
                <a:lnTo>
                  <a:pt x="13000" y="4500"/>
                </a:lnTo>
                <a:moveTo>
                  <a:pt x="7500" y="4500"/>
                </a:moveTo>
                <a:lnTo>
                  <a:pt x="7500" y="2500"/>
                </a:lnTo>
              </a:path>
            </a:pathLst>
          </a:custGeom>
          <a:noFill/>
          <a:ln w="22225" cap="rnd">
            <a:solidFill>
              <a:srgbClr val="731EF2"/>
            </a:solidFill>
            <a:round/>
          </a:ln>
          <a:effectLst/>
        </p:spPr>
        <p:txBody>
          <a:bodyPr/>
          <a:lstStyle/>
          <a:p/>
        </p:txBody>
      </p:sp>
      <p:sp>
        <p:nvSpPr>
          <p:cNvPr id="10006" name="TextBox 10005"/>
          <p:cNvSpPr txBox="1"/>
          <p:nvPr/>
        </p:nvSpPr>
        <p:spPr>
          <a:xfrm>
            <a:off x="4470400" y="3381851"/>
            <a:ext cx="3251200" cy="1637347"/>
          </a:xfrm>
          <a:prstGeom prst="rect">
            <a:avLst/>
          </a:prstGeom>
          <a:noFill/>
          <a:effectLst/>
        </p:spPr>
        <p:txBody>
          <a:bodyPr wrap="square" lIns="0" rIns="0" tIns="0" bIns="0">
            <a:spAutoFit/>
          </a:bodyPr>
          <a:lstStyle/>
          <a:p>
            <a:r>
              <a:rPr sz="1800" b="1">
                <a:solidFill>
                  <a:srgbClr val="13101C"/>
                </a:solidFill>
                <a:latin typeface="Plus Jakarta Sans"/>
              </a:rPr>
              <a:t>Sounds like you, in every language</a:t>
            </a:r>
          </a:p>
          <a:p>
            <a:pPr>
              <a:lnSpc>
                <a:spcPct val="115000"/>
              </a:lnSpc>
              <a:spcBef>
                <a:spcPts val="800"/>
              </a:spcBef>
            </a:pPr>
            <a:r>
              <a:rPr sz="1050" b="0">
                <a:solidFill>
                  <a:srgbClr val="535065"/>
                </a:solidFill>
                <a:latin typeface="Inter"/>
              </a:rPr>
              <a:t>Every translation runs on your brand voice, approved terminology, and market nuance, then is scored against your quality criteria. It iterates on its own work, so you review the finished result, not the rough draft.</a:t>
            </a:r>
          </a:p>
        </p:txBody>
      </p:sp>
      <p:sp>
        <p:nvSpPr>
          <p:cNvPr id="10007" name="Rounded Rectangle 10006"/>
          <p:cNvSpPr/>
          <p:nvPr/>
        </p:nvSpPr>
        <p:spPr>
          <a:xfrm>
            <a:off x="8026400" y="2391251"/>
            <a:ext cx="3708400" cy="2856548"/>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8" name="Oval 10007"/>
          <p:cNvSpPr/>
          <p:nvPr/>
        </p:nvSpPr>
        <p:spPr>
          <a:xfrm>
            <a:off x="8255000" y="2619851"/>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4" name="icon-check-in-circle-10004"/>
          <p:cNvSpPr/>
          <p:nvPr/>
        </p:nvSpPr>
        <p:spPr>
          <a:xfrm>
            <a:off x="8388350" y="2753201"/>
            <a:ext cx="266700" cy="266700"/>
          </a:xfrm>
          <a:custGeom>
            <a:avLst/>
            <a:gdLst/>
            <a:ahLst/>
            <a:cxnLst/>
            <a:rect l="0" t="0" r="0" b="0"/>
            <a:pathLst>
              <a:path w="24000" h="24000" fill="none" stroke="1">
                <a:moveTo>
                  <a:pt x="6840" y="12840"/>
                </a:moveTo>
                <a:lnTo>
                  <a:pt x="9500" y="15500"/>
                </a:lnTo>
                <a:cubicBezTo>
                  <a:pt x="9815" y="15815"/>
                  <a:pt x="10327" y="15815"/>
                  <a:pt x="10642" y="15500"/>
                </a:cubicBezTo>
                <a:lnTo>
                  <a:pt x="17340" y="8802"/>
                </a:lnTo>
                <a:moveTo>
                  <a:pt x="22000" y="12000"/>
                </a:moveTo>
                <a:cubicBezTo>
                  <a:pt x="22000" y="6477"/>
                  <a:pt x="17523" y="2000"/>
                  <a:pt x="12000" y="2000"/>
                </a:cubicBezTo>
                <a:cubicBezTo>
                  <a:pt x="6477" y="2000"/>
                  <a:pt x="2000" y="6477"/>
                  <a:pt x="2000" y="12000"/>
                </a:cubicBezTo>
                <a:cubicBezTo>
                  <a:pt x="2000" y="17523"/>
                  <a:pt x="6477" y="22000"/>
                  <a:pt x="12000" y="22000"/>
                </a:cubicBezTo>
                <a:cubicBezTo>
                  <a:pt x="17523" y="22000"/>
                  <a:pt x="22000" y="17523"/>
                  <a:pt x="22000" y="12000"/>
                </a:cubicBezTo>
                <a:close/>
              </a:path>
            </a:pathLst>
          </a:custGeom>
          <a:noFill/>
          <a:ln w="22225" cap="rnd">
            <a:solidFill>
              <a:srgbClr val="731EF2"/>
            </a:solidFill>
            <a:round/>
          </a:ln>
          <a:effectLst/>
        </p:spPr>
        <p:txBody>
          <a:bodyPr/>
          <a:lstStyle/>
          <a:p/>
        </p:txBody>
      </p:sp>
      <p:sp>
        <p:nvSpPr>
          <p:cNvPr id="10009" name="TextBox 10008"/>
          <p:cNvSpPr txBox="1"/>
          <p:nvPr/>
        </p:nvSpPr>
        <p:spPr>
          <a:xfrm>
            <a:off x="8255000" y="3381851"/>
            <a:ext cx="3251200" cy="1637347"/>
          </a:xfrm>
          <a:prstGeom prst="rect">
            <a:avLst/>
          </a:prstGeom>
          <a:noFill/>
          <a:effectLst/>
        </p:spPr>
        <p:txBody>
          <a:bodyPr wrap="square" lIns="0" rIns="0" tIns="0" bIns="0">
            <a:spAutoFit/>
          </a:bodyPr>
          <a:lstStyle/>
          <a:p>
            <a:r>
              <a:rPr sz="1800" b="1">
                <a:solidFill>
                  <a:srgbClr val="13101C"/>
                </a:solidFill>
                <a:latin typeface="Plus Jakarta Sans"/>
              </a:rPr>
              <a:t>Nothing ships without your sign-off</a:t>
            </a:r>
          </a:p>
          <a:p>
            <a:pPr>
              <a:lnSpc>
                <a:spcPct val="115000"/>
              </a:lnSpc>
              <a:spcBef>
                <a:spcPts val="800"/>
              </a:spcBef>
            </a:pPr>
            <a:r>
              <a:rPr sz="1050" b="0">
                <a:solidFill>
                  <a:srgbClr val="535065"/>
                </a:solidFill>
                <a:latin typeface="Inter"/>
              </a:rPr>
              <a:t>See before and after, side by side, in every language. Approve, edit, or reject in context — then it routes the approved content to the next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824"/>
        </a:solidFill>
        <a:effectLst/>
      </p:bgPr>
    </p:bg>
    <p:spTree>
      <p:nvGrpSpPr>
        <p:cNvPr id="1" name=""/>
        <p:cNvGrpSpPr/>
        <p:nvPr/>
      </p:nvGrpSpPr>
      <p:grpSpPr/>
      <p:sp>
        <p:nvSpPr>
          <p:cNvPr id="2" name="TextBox 1"/>
          <p:cNvSpPr txBox="1"/>
          <p:nvPr/>
        </p:nvSpPr>
        <p:spPr>
          <a:xfrm>
            <a:off x="457200" y="457200"/>
            <a:ext cx="11277600" cy="5943600"/>
          </a:xfrm>
          <a:prstGeom prst="rect">
            <a:avLst/>
          </a:prstGeom>
          <a:noFill/>
          <a:effectLst/>
        </p:spPr>
        <p:txBody>
          <a:bodyPr wrap="square" lIns="0" rIns="0" tIns="0" bIns="0">
            <a:spAutoFit/>
          </a:bodyPr>
          <a:lstStyle/>
          <a:p>
            <a:r>
              <a:rPr sz="4800" b="1">
                <a:solidFill>
                  <a:srgbClr val="FFFFFF"/>
                </a:solidFill>
                <a:latin typeface="Plus Jakarta Sans"/>
              </a:rPr>
              <a:t>How it 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1277600" cy="571500"/>
          </a:xfrm>
          <a:prstGeom prst="rect">
            <a:avLst/>
          </a:prstGeom>
          <a:noFill/>
          <a:effectLst/>
        </p:spPr>
        <p:txBody>
          <a:bodyPr wrap="square" lIns="0" rIns="0" tIns="0" bIns="0">
            <a:spAutoFit/>
          </a:bodyPr>
          <a:lstStyle/>
          <a:p>
            <a:r>
              <a:rPr sz="3600" b="1">
                <a:solidFill>
                  <a:srgbClr val="13101C"/>
                </a:solidFill>
                <a:latin typeface="Plus Jakarta Sans"/>
              </a:rPr>
              <a:t>From file to finished, in one conversation.</a:t>
            </a:r>
          </a:p>
        </p:txBody>
      </p:sp>
      <p:sp>
        <p:nvSpPr>
          <p:cNvPr id="3" name="Rounded Rectangle 2"/>
          <p:cNvSpPr/>
          <p:nvPr/>
        </p:nvSpPr>
        <p:spPr>
          <a:xfrm>
            <a:off x="457200" y="2917508"/>
            <a:ext cx="2011680" cy="1804035"/>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7700" y="3108008"/>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5" name="icon-upload-to-cloud-10005"/>
          <p:cNvSpPr/>
          <p:nvPr/>
        </p:nvSpPr>
        <p:spPr>
          <a:xfrm>
            <a:off x="781050" y="3241358"/>
            <a:ext cx="266700" cy="266700"/>
          </a:xfrm>
          <a:custGeom>
            <a:avLst/>
            <a:gdLst/>
            <a:ahLst/>
            <a:cxnLst/>
            <a:rect l="0" t="0" r="0" b="0"/>
            <a:pathLst>
              <a:path w="24000" h="24000" fill="none" stroke="1">
                <a:moveTo>
                  <a:pt x="15500" y="12500"/>
                </a:moveTo>
                <a:lnTo>
                  <a:pt x="12000" y="9000"/>
                </a:lnTo>
                <a:lnTo>
                  <a:pt x="8500" y="12500"/>
                </a:lnTo>
                <a:moveTo>
                  <a:pt x="12000" y="9000"/>
                </a:moveTo>
                <a:lnTo>
                  <a:pt x="12000" y="22000"/>
                </a:lnTo>
                <a:moveTo>
                  <a:pt x="8500" y="17000"/>
                </a:moveTo>
                <a:lnTo>
                  <a:pt x="7000" y="17000"/>
                </a:lnTo>
                <a:cubicBezTo>
                  <a:pt x="4239" y="17000"/>
                  <a:pt x="2000" y="14761"/>
                  <a:pt x="2000" y="12000"/>
                </a:cubicBezTo>
                <a:cubicBezTo>
                  <a:pt x="2000" y="9325"/>
                  <a:pt x="4101" y="7141"/>
                  <a:pt x="6743" y="7007"/>
                </a:cubicBezTo>
                <a:lnTo>
                  <a:pt x="7000" y="7000"/>
                </a:lnTo>
                <a:cubicBezTo>
                  <a:pt x="7000" y="4239"/>
                  <a:pt x="9239" y="2000"/>
                  <a:pt x="12000" y="2000"/>
                </a:cubicBezTo>
                <a:cubicBezTo>
                  <a:pt x="14761" y="2000"/>
                  <a:pt x="17000" y="4239"/>
                  <a:pt x="17000" y="7000"/>
                </a:cubicBezTo>
                <a:lnTo>
                  <a:pt x="17257" y="7007"/>
                </a:lnTo>
                <a:cubicBezTo>
                  <a:pt x="19899" y="7141"/>
                  <a:pt x="22000" y="9325"/>
                  <a:pt x="22000" y="12000"/>
                </a:cubicBezTo>
                <a:cubicBezTo>
                  <a:pt x="22000" y="14761"/>
                  <a:pt x="19761" y="17000"/>
                  <a:pt x="17000" y="17000"/>
                </a:cubicBezTo>
                <a:lnTo>
                  <a:pt x="15500" y="17000"/>
                </a:lnTo>
              </a:path>
            </a:pathLst>
          </a:custGeom>
          <a:noFill/>
          <a:ln w="22225" cap="rnd">
            <a:solidFill>
              <a:srgbClr val="731EF2"/>
            </a:solidFill>
            <a:round/>
          </a:ln>
          <a:effectLst/>
        </p:spPr>
        <p:txBody>
          <a:bodyPr/>
          <a:lstStyle/>
          <a:p/>
        </p:txBody>
      </p:sp>
      <p:sp>
        <p:nvSpPr>
          <p:cNvPr id="10006" name="TextBox 10005"/>
          <p:cNvSpPr txBox="1"/>
          <p:nvPr/>
        </p:nvSpPr>
        <p:spPr>
          <a:xfrm>
            <a:off x="647700" y="3622358"/>
            <a:ext cx="1630680" cy="908685"/>
          </a:xfrm>
          <a:prstGeom prst="rect">
            <a:avLst/>
          </a:prstGeom>
          <a:noFill/>
          <a:effectLst/>
        </p:spPr>
        <p:txBody>
          <a:bodyPr wrap="square" lIns="0" rIns="0" tIns="0" bIns="0">
            <a:spAutoFit/>
          </a:bodyPr>
          <a:lstStyle/>
          <a:p>
            <a:r>
              <a:rPr sz="1350" b="1">
                <a:solidFill>
                  <a:srgbClr val="13101C"/>
                </a:solidFill>
                <a:latin typeface="Plus Jakarta Sans"/>
              </a:rPr>
              <a:t>Tell it what you need</a:t>
            </a:r>
          </a:p>
          <a:p>
            <a:pPr>
              <a:lnSpc>
                <a:spcPct val="115000"/>
              </a:lnSpc>
              <a:spcBef>
                <a:spcPts val="600"/>
              </a:spcBef>
            </a:pPr>
            <a:r>
              <a:rPr sz="1050" b="0">
                <a:solidFill>
                  <a:srgbClr val="535065"/>
                </a:solidFill>
                <a:latin typeface="Inter"/>
              </a:rPr>
              <a:t>A file, a link, or a brief</a:t>
            </a:r>
          </a:p>
        </p:txBody>
      </p:sp>
      <p:sp>
        <p:nvSpPr>
          <p:cNvPr id="10007" name="Rounded Rectangle 10006"/>
          <p:cNvSpPr/>
          <p:nvPr/>
        </p:nvSpPr>
        <p:spPr>
          <a:xfrm>
            <a:off x="2773680" y="2917508"/>
            <a:ext cx="2011680" cy="1804035"/>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8" name="Oval 10007"/>
          <p:cNvSpPr/>
          <p:nvPr/>
        </p:nvSpPr>
        <p:spPr>
          <a:xfrm>
            <a:off x="2964180" y="3108008"/>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6" name="icon-gear-10006"/>
          <p:cNvSpPr/>
          <p:nvPr/>
        </p:nvSpPr>
        <p:spPr>
          <a:xfrm>
            <a:off x="3097530" y="3241358"/>
            <a:ext cx="266700" cy="266700"/>
          </a:xfrm>
          <a:custGeom>
            <a:avLst/>
            <a:gdLst/>
            <a:ahLst/>
            <a:cxnLst/>
            <a:rect l="0" t="0" r="0" b="0"/>
            <a:pathLst>
              <a:path w="24000" h="24000" fill="none" stroke="1">
                <a:moveTo>
                  <a:pt x="14638" y="4095"/>
                </a:moveTo>
                <a:cubicBezTo>
                  <a:pt x="14743" y="4357"/>
                  <a:pt x="14954" y="4559"/>
                  <a:pt x="15212" y="4672"/>
                </a:cubicBezTo>
                <a:cubicBezTo>
                  <a:pt x="15755" y="4910"/>
                  <a:pt x="16267" y="5207"/>
                  <a:pt x="16739" y="5554"/>
                </a:cubicBezTo>
                <a:cubicBezTo>
                  <a:pt x="16966" y="5721"/>
                  <a:pt x="17246" y="5803"/>
                  <a:pt x="17525" y="5763"/>
                </a:cubicBezTo>
                <a:lnTo>
                  <a:pt x="19090" y="5538"/>
                </a:lnTo>
                <a:cubicBezTo>
                  <a:pt x="19495" y="5480"/>
                  <a:pt x="19894" y="5674"/>
                  <a:pt x="20099" y="6028"/>
                </a:cubicBezTo>
                <a:lnTo>
                  <a:pt x="21222" y="7972"/>
                </a:lnTo>
                <a:cubicBezTo>
                  <a:pt x="21426" y="8326"/>
                  <a:pt x="21394" y="8769"/>
                  <a:pt x="21141" y="9091"/>
                </a:cubicBezTo>
                <a:lnTo>
                  <a:pt x="20162" y="10334"/>
                </a:lnTo>
                <a:cubicBezTo>
                  <a:pt x="19988" y="10555"/>
                  <a:pt x="19919" y="10838"/>
                  <a:pt x="19950" y="11118"/>
                </a:cubicBezTo>
                <a:cubicBezTo>
                  <a:pt x="19982" y="11408"/>
                  <a:pt x="20000" y="11702"/>
                  <a:pt x="20000" y="12000"/>
                </a:cubicBezTo>
                <a:cubicBezTo>
                  <a:pt x="20000" y="12298"/>
                  <a:pt x="19982" y="12592"/>
                  <a:pt x="19950" y="12881"/>
                </a:cubicBezTo>
                <a:cubicBezTo>
                  <a:pt x="19919" y="13161"/>
                  <a:pt x="19988" y="13444"/>
                  <a:pt x="20162" y="13665"/>
                </a:cubicBezTo>
                <a:lnTo>
                  <a:pt x="21141" y="14909"/>
                </a:lnTo>
                <a:cubicBezTo>
                  <a:pt x="21394" y="15231"/>
                  <a:pt x="21426" y="15674"/>
                  <a:pt x="21222" y="16028"/>
                </a:cubicBezTo>
                <a:lnTo>
                  <a:pt x="20099" y="17972"/>
                </a:lnTo>
                <a:cubicBezTo>
                  <a:pt x="19894" y="18326"/>
                  <a:pt x="19495" y="18520"/>
                  <a:pt x="19090" y="18462"/>
                </a:cubicBezTo>
                <a:lnTo>
                  <a:pt x="17525" y="18236"/>
                </a:lnTo>
                <a:cubicBezTo>
                  <a:pt x="17246" y="18196"/>
                  <a:pt x="16966" y="18278"/>
                  <a:pt x="16739" y="18445"/>
                </a:cubicBezTo>
                <a:cubicBezTo>
                  <a:pt x="16267" y="18792"/>
                  <a:pt x="15755" y="19089"/>
                  <a:pt x="15212" y="19327"/>
                </a:cubicBezTo>
                <a:cubicBezTo>
                  <a:pt x="14954" y="19440"/>
                  <a:pt x="14743" y="19642"/>
                  <a:pt x="14638" y="19904"/>
                </a:cubicBezTo>
                <a:lnTo>
                  <a:pt x="14052" y="21371"/>
                </a:lnTo>
                <a:cubicBezTo>
                  <a:pt x="13900" y="21751"/>
                  <a:pt x="13532" y="22000"/>
                  <a:pt x="13123" y="22000"/>
                </a:cubicBezTo>
                <a:lnTo>
                  <a:pt x="10878" y="22000"/>
                </a:lnTo>
                <a:cubicBezTo>
                  <a:pt x="10469" y="22000"/>
                  <a:pt x="10101" y="21751"/>
                  <a:pt x="9949" y="21372"/>
                </a:cubicBezTo>
                <a:lnTo>
                  <a:pt x="9362" y="19904"/>
                </a:lnTo>
                <a:cubicBezTo>
                  <a:pt x="9257" y="19643"/>
                  <a:pt x="9046" y="19441"/>
                  <a:pt x="8789" y="19328"/>
                </a:cubicBezTo>
                <a:cubicBezTo>
                  <a:pt x="8245" y="19090"/>
                  <a:pt x="7733" y="18793"/>
                  <a:pt x="7261" y="18445"/>
                </a:cubicBezTo>
                <a:cubicBezTo>
                  <a:pt x="7034" y="18278"/>
                  <a:pt x="6753" y="18196"/>
                  <a:pt x="6474" y="18236"/>
                </a:cubicBezTo>
                <a:lnTo>
                  <a:pt x="4911" y="18462"/>
                </a:lnTo>
                <a:cubicBezTo>
                  <a:pt x="4506" y="18520"/>
                  <a:pt x="4107" y="18326"/>
                  <a:pt x="3902" y="17972"/>
                </a:cubicBezTo>
                <a:lnTo>
                  <a:pt x="2779" y="16028"/>
                </a:lnTo>
                <a:cubicBezTo>
                  <a:pt x="2574" y="15674"/>
                  <a:pt x="2606" y="15231"/>
                  <a:pt x="2858" y="14909"/>
                </a:cubicBezTo>
                <a:lnTo>
                  <a:pt x="3837" y="13664"/>
                </a:lnTo>
                <a:cubicBezTo>
                  <a:pt x="4011" y="13443"/>
                  <a:pt x="4081" y="13160"/>
                  <a:pt x="4050" y="12881"/>
                </a:cubicBezTo>
                <a:cubicBezTo>
                  <a:pt x="4017" y="12592"/>
                  <a:pt x="4001" y="12298"/>
                  <a:pt x="4001" y="12000"/>
                </a:cubicBezTo>
                <a:cubicBezTo>
                  <a:pt x="4001" y="11702"/>
                  <a:pt x="4017" y="11408"/>
                  <a:pt x="4050" y="11118"/>
                </a:cubicBezTo>
                <a:cubicBezTo>
                  <a:pt x="4080" y="10839"/>
                  <a:pt x="4011" y="10556"/>
                  <a:pt x="3837" y="10335"/>
                </a:cubicBezTo>
                <a:lnTo>
                  <a:pt x="2859" y="9091"/>
                </a:lnTo>
                <a:cubicBezTo>
                  <a:pt x="2606" y="8769"/>
                  <a:pt x="2574" y="8326"/>
                  <a:pt x="2779" y="7972"/>
                </a:cubicBezTo>
                <a:lnTo>
                  <a:pt x="3902" y="6027"/>
                </a:lnTo>
                <a:cubicBezTo>
                  <a:pt x="4107" y="5673"/>
                  <a:pt x="4506" y="5480"/>
                  <a:pt x="4911" y="5538"/>
                </a:cubicBezTo>
                <a:lnTo>
                  <a:pt x="6474" y="5763"/>
                </a:lnTo>
                <a:cubicBezTo>
                  <a:pt x="6753" y="5803"/>
                  <a:pt x="7034" y="5721"/>
                  <a:pt x="7261" y="5554"/>
                </a:cubicBezTo>
                <a:cubicBezTo>
                  <a:pt x="7733" y="5206"/>
                  <a:pt x="8245" y="4909"/>
                  <a:pt x="8789" y="4671"/>
                </a:cubicBezTo>
                <a:cubicBezTo>
                  <a:pt x="9046" y="4558"/>
                  <a:pt x="9257" y="4356"/>
                  <a:pt x="9362" y="4095"/>
                </a:cubicBezTo>
                <a:lnTo>
                  <a:pt x="9949" y="2628"/>
                </a:lnTo>
                <a:cubicBezTo>
                  <a:pt x="10101" y="2249"/>
                  <a:pt x="10469" y="2000"/>
                  <a:pt x="10878" y="2000"/>
                </a:cubicBezTo>
                <a:lnTo>
                  <a:pt x="13123" y="2000"/>
                </a:lnTo>
                <a:cubicBezTo>
                  <a:pt x="13532" y="2000"/>
                  <a:pt x="13900" y="2249"/>
                  <a:pt x="14052" y="2629"/>
                </a:cubicBezTo>
                <a:lnTo>
                  <a:pt x="14638" y="4095"/>
                </a:lnTo>
                <a:close/>
                <a:moveTo>
                  <a:pt x="15000" y="12000"/>
                </a:moveTo>
                <a:cubicBezTo>
                  <a:pt x="15000" y="13657"/>
                  <a:pt x="13657" y="15000"/>
                  <a:pt x="12000" y="15000"/>
                </a:cubicBezTo>
                <a:cubicBezTo>
                  <a:pt x="10343" y="15000"/>
                  <a:pt x="9000" y="13657"/>
                  <a:pt x="9000" y="12000"/>
                </a:cubicBezTo>
                <a:cubicBezTo>
                  <a:pt x="9000" y="10343"/>
                  <a:pt x="10343" y="9000"/>
                  <a:pt x="12000" y="9000"/>
                </a:cubicBezTo>
                <a:cubicBezTo>
                  <a:pt x="13657" y="9000"/>
                  <a:pt x="15000" y="10343"/>
                  <a:pt x="15000" y="12000"/>
                </a:cubicBezTo>
                <a:close/>
              </a:path>
            </a:pathLst>
          </a:custGeom>
          <a:noFill/>
          <a:ln w="22225" cap="rnd">
            <a:solidFill>
              <a:srgbClr val="731EF2"/>
            </a:solidFill>
            <a:round/>
          </a:ln>
          <a:effectLst/>
        </p:spPr>
        <p:txBody>
          <a:bodyPr/>
          <a:lstStyle/>
          <a:p/>
        </p:txBody>
      </p:sp>
      <p:sp>
        <p:nvSpPr>
          <p:cNvPr id="10009" name="TextBox 10008"/>
          <p:cNvSpPr txBox="1"/>
          <p:nvPr/>
        </p:nvSpPr>
        <p:spPr>
          <a:xfrm>
            <a:off x="2964180" y="3622358"/>
            <a:ext cx="1630680" cy="908685"/>
          </a:xfrm>
          <a:prstGeom prst="rect">
            <a:avLst/>
          </a:prstGeom>
          <a:noFill/>
          <a:effectLst/>
        </p:spPr>
        <p:txBody>
          <a:bodyPr wrap="square" lIns="0" rIns="0" tIns="0" bIns="0">
            <a:spAutoFit/>
          </a:bodyPr>
          <a:lstStyle/>
          <a:p>
            <a:r>
              <a:rPr sz="1350" b="1">
                <a:solidFill>
                  <a:srgbClr val="13101C"/>
                </a:solidFill>
                <a:latin typeface="Plus Jakarta Sans"/>
              </a:rPr>
              <a:t>It sets up the project</a:t>
            </a:r>
          </a:p>
          <a:p>
            <a:pPr>
              <a:lnSpc>
                <a:spcPct val="115000"/>
              </a:lnSpc>
              <a:spcBef>
                <a:spcPts val="600"/>
              </a:spcBef>
            </a:pPr>
            <a:r>
              <a:rPr sz="1050" b="0">
                <a:solidFill>
                  <a:srgbClr val="535065"/>
                </a:solidFill>
                <a:latin typeface="Inter"/>
              </a:rPr>
              <a:t>Your voice and terminology</a:t>
            </a:r>
          </a:p>
        </p:txBody>
      </p:sp>
      <p:sp>
        <p:nvSpPr>
          <p:cNvPr id="10010" name="Rounded Rectangle 10009"/>
          <p:cNvSpPr/>
          <p:nvPr/>
        </p:nvSpPr>
        <p:spPr>
          <a:xfrm>
            <a:off x="5090160" y="2917508"/>
            <a:ext cx="2011680" cy="1804035"/>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1" name="Oval 10010"/>
          <p:cNvSpPr/>
          <p:nvPr/>
        </p:nvSpPr>
        <p:spPr>
          <a:xfrm>
            <a:off x="5280660" y="3108008"/>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7" name="icon-translation-10007"/>
          <p:cNvSpPr/>
          <p:nvPr/>
        </p:nvSpPr>
        <p:spPr>
          <a:xfrm>
            <a:off x="5414010" y="3241358"/>
            <a:ext cx="266700" cy="266700"/>
          </a:xfrm>
          <a:custGeom>
            <a:avLst/>
            <a:gdLst/>
            <a:ahLst/>
            <a:cxnLst/>
            <a:rect l="0" t="0" r="0" b="0"/>
            <a:pathLst>
              <a:path w="24000" h="24000" fill="none" stroke="1">
                <a:moveTo>
                  <a:pt x="10500" y="20500"/>
                </a:moveTo>
                <a:lnTo>
                  <a:pt x="11883" y="17230"/>
                </a:lnTo>
                <a:moveTo>
                  <a:pt x="21500" y="20500"/>
                </a:moveTo>
                <a:lnTo>
                  <a:pt x="20117" y="17230"/>
                </a:lnTo>
                <a:lnTo>
                  <a:pt x="16511" y="8707"/>
                </a:lnTo>
                <a:cubicBezTo>
                  <a:pt x="16320" y="8256"/>
                  <a:pt x="15680" y="8256"/>
                  <a:pt x="15489" y="8707"/>
                </a:cubicBezTo>
                <a:lnTo>
                  <a:pt x="11883" y="17230"/>
                </a:lnTo>
                <a:moveTo>
                  <a:pt x="11883" y="17230"/>
                </a:moveTo>
                <a:lnTo>
                  <a:pt x="20117" y="17230"/>
                </a:lnTo>
                <a:moveTo>
                  <a:pt x="2000" y="15000"/>
                </a:moveTo>
                <a:cubicBezTo>
                  <a:pt x="8600" y="12500"/>
                  <a:pt x="11000" y="9000"/>
                  <a:pt x="11000" y="5000"/>
                </a:cubicBezTo>
                <a:moveTo>
                  <a:pt x="12500" y="15000"/>
                </a:moveTo>
                <a:cubicBezTo>
                  <a:pt x="7586" y="13139"/>
                  <a:pt x="5501" y="10764"/>
                  <a:pt x="4500" y="8000"/>
                </a:cubicBezTo>
                <a:cubicBezTo>
                  <a:pt x="4386" y="7685"/>
                  <a:pt x="4292" y="7365"/>
                  <a:pt x="4218" y="7040"/>
                </a:cubicBezTo>
                <a:moveTo>
                  <a:pt x="2000" y="4500"/>
                </a:moveTo>
                <a:lnTo>
                  <a:pt x="7500" y="4500"/>
                </a:lnTo>
                <a:moveTo>
                  <a:pt x="7500" y="4500"/>
                </a:moveTo>
                <a:lnTo>
                  <a:pt x="13000" y="4500"/>
                </a:lnTo>
                <a:moveTo>
                  <a:pt x="7500" y="4500"/>
                </a:moveTo>
                <a:lnTo>
                  <a:pt x="7500" y="2500"/>
                </a:lnTo>
              </a:path>
            </a:pathLst>
          </a:custGeom>
          <a:noFill/>
          <a:ln w="22225" cap="rnd">
            <a:solidFill>
              <a:srgbClr val="731EF2"/>
            </a:solidFill>
            <a:round/>
          </a:ln>
          <a:effectLst/>
        </p:spPr>
        <p:txBody>
          <a:bodyPr/>
          <a:lstStyle/>
          <a:p/>
        </p:txBody>
      </p:sp>
      <p:sp>
        <p:nvSpPr>
          <p:cNvPr id="10012" name="TextBox 10011"/>
          <p:cNvSpPr txBox="1"/>
          <p:nvPr/>
        </p:nvSpPr>
        <p:spPr>
          <a:xfrm>
            <a:off x="5280660" y="3622358"/>
            <a:ext cx="1630680" cy="908685"/>
          </a:xfrm>
          <a:prstGeom prst="rect">
            <a:avLst/>
          </a:prstGeom>
          <a:noFill/>
          <a:effectLst/>
        </p:spPr>
        <p:txBody>
          <a:bodyPr wrap="square" lIns="0" rIns="0" tIns="0" bIns="0">
            <a:spAutoFit/>
          </a:bodyPr>
          <a:lstStyle/>
          <a:p>
            <a:r>
              <a:rPr sz="1350" b="1">
                <a:solidFill>
                  <a:srgbClr val="13101C"/>
                </a:solidFill>
                <a:latin typeface="Plus Jakarta Sans"/>
              </a:rPr>
              <a:t>It translates</a:t>
            </a:r>
          </a:p>
          <a:p>
            <a:pPr>
              <a:lnSpc>
                <a:spcPct val="115000"/>
              </a:lnSpc>
              <a:spcBef>
                <a:spcPts val="600"/>
              </a:spcBef>
            </a:pPr>
            <a:r>
              <a:rPr sz="1050" b="0">
                <a:solidFill>
                  <a:srgbClr val="535065"/>
                </a:solidFill>
                <a:latin typeface="Inter"/>
              </a:rPr>
              <a:t>Into any of 280+ languages</a:t>
            </a:r>
          </a:p>
        </p:txBody>
      </p:sp>
      <p:sp>
        <p:nvSpPr>
          <p:cNvPr id="10013" name="Rounded Rectangle 10012"/>
          <p:cNvSpPr/>
          <p:nvPr/>
        </p:nvSpPr>
        <p:spPr>
          <a:xfrm>
            <a:off x="7406640" y="2917508"/>
            <a:ext cx="2011680" cy="1804035"/>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4" name="Oval 10013"/>
          <p:cNvSpPr/>
          <p:nvPr/>
        </p:nvSpPr>
        <p:spPr>
          <a:xfrm>
            <a:off x="7597140" y="3108008"/>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8" name="icon-check-in-circle-10008"/>
          <p:cNvSpPr/>
          <p:nvPr/>
        </p:nvSpPr>
        <p:spPr>
          <a:xfrm>
            <a:off x="7730490" y="3241358"/>
            <a:ext cx="266700" cy="266700"/>
          </a:xfrm>
          <a:custGeom>
            <a:avLst/>
            <a:gdLst/>
            <a:ahLst/>
            <a:cxnLst/>
            <a:rect l="0" t="0" r="0" b="0"/>
            <a:pathLst>
              <a:path w="24000" h="24000" fill="none" stroke="1">
                <a:moveTo>
                  <a:pt x="6840" y="12840"/>
                </a:moveTo>
                <a:lnTo>
                  <a:pt x="9500" y="15500"/>
                </a:lnTo>
                <a:cubicBezTo>
                  <a:pt x="9815" y="15815"/>
                  <a:pt x="10327" y="15815"/>
                  <a:pt x="10642" y="15500"/>
                </a:cubicBezTo>
                <a:lnTo>
                  <a:pt x="17340" y="8802"/>
                </a:lnTo>
                <a:moveTo>
                  <a:pt x="22000" y="12000"/>
                </a:moveTo>
                <a:cubicBezTo>
                  <a:pt x="22000" y="6477"/>
                  <a:pt x="17523" y="2000"/>
                  <a:pt x="12000" y="2000"/>
                </a:cubicBezTo>
                <a:cubicBezTo>
                  <a:pt x="6477" y="2000"/>
                  <a:pt x="2000" y="6477"/>
                  <a:pt x="2000" y="12000"/>
                </a:cubicBezTo>
                <a:cubicBezTo>
                  <a:pt x="2000" y="17523"/>
                  <a:pt x="6477" y="22000"/>
                  <a:pt x="12000" y="22000"/>
                </a:cubicBezTo>
                <a:cubicBezTo>
                  <a:pt x="17523" y="22000"/>
                  <a:pt x="22000" y="17523"/>
                  <a:pt x="22000" y="12000"/>
                </a:cubicBezTo>
                <a:close/>
              </a:path>
            </a:pathLst>
          </a:custGeom>
          <a:noFill/>
          <a:ln w="22225" cap="rnd">
            <a:solidFill>
              <a:srgbClr val="731EF2"/>
            </a:solidFill>
            <a:round/>
          </a:ln>
          <a:effectLst/>
        </p:spPr>
        <p:txBody>
          <a:bodyPr/>
          <a:lstStyle/>
          <a:p/>
        </p:txBody>
      </p:sp>
      <p:sp>
        <p:nvSpPr>
          <p:cNvPr id="10015" name="TextBox 10014"/>
          <p:cNvSpPr txBox="1"/>
          <p:nvPr/>
        </p:nvSpPr>
        <p:spPr>
          <a:xfrm>
            <a:off x="7597140" y="3622358"/>
            <a:ext cx="1630680" cy="908685"/>
          </a:xfrm>
          <a:prstGeom prst="rect">
            <a:avLst/>
          </a:prstGeom>
          <a:noFill/>
          <a:effectLst/>
        </p:spPr>
        <p:txBody>
          <a:bodyPr wrap="square" lIns="0" rIns="0" tIns="0" bIns="0">
            <a:spAutoFit/>
          </a:bodyPr>
          <a:lstStyle/>
          <a:p>
            <a:r>
              <a:rPr sz="1350" b="1">
                <a:solidFill>
                  <a:srgbClr val="13101C"/>
                </a:solidFill>
                <a:latin typeface="Plus Jakarta Sans"/>
              </a:rPr>
              <a:t>You review in context</a:t>
            </a:r>
          </a:p>
          <a:p>
            <a:pPr>
              <a:lnSpc>
                <a:spcPct val="115000"/>
              </a:lnSpc>
              <a:spcBef>
                <a:spcPts val="600"/>
              </a:spcBef>
            </a:pPr>
            <a:r>
              <a:rPr sz="1050" b="0">
                <a:solidFill>
                  <a:srgbClr val="535065"/>
                </a:solidFill>
                <a:latin typeface="Inter"/>
              </a:rPr>
              <a:t>Side by side, per language</a:t>
            </a:r>
          </a:p>
        </p:txBody>
      </p:sp>
      <p:sp>
        <p:nvSpPr>
          <p:cNvPr id="10016" name="Rounded Rectangle 10015"/>
          <p:cNvSpPr/>
          <p:nvPr/>
        </p:nvSpPr>
        <p:spPr>
          <a:xfrm>
            <a:off x="9723120" y="2917508"/>
            <a:ext cx="2011680" cy="1804035"/>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7" name="Oval 10016"/>
          <p:cNvSpPr/>
          <p:nvPr/>
        </p:nvSpPr>
        <p:spPr>
          <a:xfrm>
            <a:off x="9913620" y="3108008"/>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9" name="icon-rocket-10009"/>
          <p:cNvSpPr/>
          <p:nvPr/>
        </p:nvSpPr>
        <p:spPr>
          <a:xfrm>
            <a:off x="10046970" y="3241358"/>
            <a:ext cx="266700" cy="266700"/>
          </a:xfrm>
          <a:custGeom>
            <a:avLst/>
            <a:gdLst/>
            <a:ahLst/>
            <a:cxnLst/>
            <a:rect l="0" t="0" r="0" b="0"/>
            <a:pathLst>
              <a:path w="24000" h="24000" fill="none" stroke="1">
                <a:moveTo>
                  <a:pt x="11499" y="17490"/>
                </a:moveTo>
                <a:lnTo>
                  <a:pt x="11869" y="21558"/>
                </a:lnTo>
                <a:cubicBezTo>
                  <a:pt x="11888" y="21770"/>
                  <a:pt x="11981" y="21968"/>
                  <a:pt x="12131" y="22118"/>
                </a:cubicBezTo>
                <a:cubicBezTo>
                  <a:pt x="12455" y="22442"/>
                  <a:pt x="12969" y="22474"/>
                  <a:pt x="13331" y="22193"/>
                </a:cubicBezTo>
                <a:lnTo>
                  <a:pt x="15422" y="20566"/>
                </a:lnTo>
                <a:cubicBezTo>
                  <a:pt x="15973" y="20138"/>
                  <a:pt x="16295" y="19480"/>
                  <a:pt x="16295" y="18782"/>
                </a:cubicBezTo>
                <a:lnTo>
                  <a:pt x="16295" y="14430"/>
                </a:lnTo>
                <a:cubicBezTo>
                  <a:pt x="16295" y="13830"/>
                  <a:pt x="16533" y="13255"/>
                  <a:pt x="16957" y="12832"/>
                </a:cubicBezTo>
                <a:lnTo>
                  <a:pt x="19877" y="9912"/>
                </a:lnTo>
                <a:cubicBezTo>
                  <a:pt x="20148" y="9640"/>
                  <a:pt x="20346" y="9304"/>
                  <a:pt x="20452" y="8934"/>
                </a:cubicBezTo>
                <a:lnTo>
                  <a:pt x="21579" y="4990"/>
                </a:lnTo>
                <a:cubicBezTo>
                  <a:pt x="21770" y="4319"/>
                  <a:pt x="21583" y="3597"/>
                  <a:pt x="21090" y="3103"/>
                </a:cubicBezTo>
                <a:lnTo>
                  <a:pt x="20896" y="2910"/>
                </a:lnTo>
                <a:cubicBezTo>
                  <a:pt x="20403" y="2416"/>
                  <a:pt x="19681" y="2229"/>
                  <a:pt x="19010" y="2421"/>
                </a:cubicBezTo>
                <a:lnTo>
                  <a:pt x="15066" y="3548"/>
                </a:lnTo>
                <a:cubicBezTo>
                  <a:pt x="14696" y="3653"/>
                  <a:pt x="14360" y="3851"/>
                  <a:pt x="14088" y="4123"/>
                </a:cubicBezTo>
                <a:lnTo>
                  <a:pt x="11168" y="7043"/>
                </a:lnTo>
                <a:cubicBezTo>
                  <a:pt x="10744" y="7467"/>
                  <a:pt x="10169" y="7705"/>
                  <a:pt x="9570" y="7705"/>
                </a:cubicBezTo>
                <a:lnTo>
                  <a:pt x="5218" y="7705"/>
                </a:lnTo>
                <a:cubicBezTo>
                  <a:pt x="4520" y="7705"/>
                  <a:pt x="3862" y="8027"/>
                  <a:pt x="3433" y="8578"/>
                </a:cubicBezTo>
                <a:lnTo>
                  <a:pt x="1807" y="10669"/>
                </a:lnTo>
                <a:cubicBezTo>
                  <a:pt x="1526" y="11030"/>
                  <a:pt x="1558" y="11545"/>
                  <a:pt x="1882" y="11868"/>
                </a:cubicBezTo>
                <a:cubicBezTo>
                  <a:pt x="2032" y="12019"/>
                  <a:pt x="2230" y="12111"/>
                  <a:pt x="2442" y="12131"/>
                </a:cubicBezTo>
                <a:lnTo>
                  <a:pt x="6510" y="12500"/>
                </a:lnTo>
                <a:moveTo>
                  <a:pt x="11402" y="12597"/>
                </a:moveTo>
                <a:lnTo>
                  <a:pt x="5008" y="18991"/>
                </a:lnTo>
              </a:path>
            </a:pathLst>
          </a:custGeom>
          <a:noFill/>
          <a:ln w="22225" cap="rnd">
            <a:solidFill>
              <a:srgbClr val="731EF2"/>
            </a:solidFill>
            <a:round/>
          </a:ln>
          <a:effectLst/>
        </p:spPr>
        <p:txBody>
          <a:bodyPr/>
          <a:lstStyle/>
          <a:p/>
        </p:txBody>
      </p:sp>
      <p:sp>
        <p:nvSpPr>
          <p:cNvPr id="10018" name="TextBox 10017"/>
          <p:cNvSpPr txBox="1"/>
          <p:nvPr/>
        </p:nvSpPr>
        <p:spPr>
          <a:xfrm>
            <a:off x="9913620" y="3622358"/>
            <a:ext cx="1630680" cy="908685"/>
          </a:xfrm>
          <a:prstGeom prst="rect">
            <a:avLst/>
          </a:prstGeom>
          <a:noFill/>
          <a:effectLst/>
        </p:spPr>
        <p:txBody>
          <a:bodyPr wrap="square" lIns="0" rIns="0" tIns="0" bIns="0">
            <a:spAutoFit/>
          </a:bodyPr>
          <a:lstStyle/>
          <a:p>
            <a:r>
              <a:rPr sz="1350" b="1">
                <a:solidFill>
                  <a:srgbClr val="13101C"/>
                </a:solidFill>
                <a:latin typeface="Plus Jakarta Sans"/>
              </a:rPr>
              <a:t>It routes the output</a:t>
            </a:r>
          </a:p>
          <a:p>
            <a:pPr>
              <a:lnSpc>
                <a:spcPct val="115000"/>
              </a:lnSpc>
              <a:spcBef>
                <a:spcPts val="600"/>
              </a:spcBef>
            </a:pPr>
            <a:r>
              <a:rPr sz="1050" b="0">
                <a:solidFill>
                  <a:srgbClr val="535065"/>
                </a:solidFill>
                <a:latin typeface="Inter"/>
              </a:rPr>
              <a:t>To the next step or tool</a:t>
            </a:r>
          </a:p>
        </p:txBody>
      </p:sp>
      <p:cxnSp>
        <p:nvCxnSpPr>
          <p:cNvPr id="10019" name="Connector 10018"/>
          <p:cNvCxnSpPr/>
          <p:nvPr/>
        </p:nvCxnSpPr>
        <p:spPr>
          <a:xfrm>
            <a:off x="2468880" y="3819525"/>
            <a:ext cx="304800" cy="0"/>
          </a:xfrm>
          <a:prstGeom prst="line">
            <a:avLst/>
          </a:prstGeom>
          <a:ln w="19050">
            <a:solidFill>
              <a:srgbClr val="53506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20" name="Connector 10019"/>
          <p:cNvCxnSpPr/>
          <p:nvPr/>
        </p:nvCxnSpPr>
        <p:spPr>
          <a:xfrm>
            <a:off x="4785360" y="3819525"/>
            <a:ext cx="304800" cy="0"/>
          </a:xfrm>
          <a:prstGeom prst="line">
            <a:avLst/>
          </a:prstGeom>
          <a:ln w="19050">
            <a:solidFill>
              <a:srgbClr val="53506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21" name="Connector 10020"/>
          <p:cNvCxnSpPr/>
          <p:nvPr/>
        </p:nvCxnSpPr>
        <p:spPr>
          <a:xfrm>
            <a:off x="7101840" y="3819525"/>
            <a:ext cx="304800" cy="0"/>
          </a:xfrm>
          <a:prstGeom prst="line">
            <a:avLst/>
          </a:prstGeom>
          <a:ln w="19050">
            <a:solidFill>
              <a:srgbClr val="53506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22" name="Connector 10021"/>
          <p:cNvCxnSpPr/>
          <p:nvPr/>
        </p:nvCxnSpPr>
        <p:spPr>
          <a:xfrm>
            <a:off x="9418320" y="3819525"/>
            <a:ext cx="304800" cy="0"/>
          </a:xfrm>
          <a:prstGeom prst="line">
            <a:avLst/>
          </a:prstGeom>
          <a:ln w="19050">
            <a:solidFill>
              <a:srgbClr val="53506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1277600" cy="571500"/>
          </a:xfrm>
          <a:prstGeom prst="rect">
            <a:avLst/>
          </a:prstGeom>
          <a:noFill/>
          <a:effectLst/>
        </p:spPr>
        <p:txBody>
          <a:bodyPr wrap="square" lIns="0" rIns="0" tIns="0" bIns="0">
            <a:spAutoFit/>
          </a:bodyPr>
          <a:lstStyle/>
          <a:p>
            <a:r>
              <a:rPr sz="3600" b="1">
                <a:solidFill>
                  <a:srgbClr val="13101C"/>
                </a:solidFill>
                <a:latin typeface="Plus Jakarta Sans"/>
              </a:rPr>
              <a:t>Nothing ships without your sign-off.</a:t>
            </a:r>
          </a:p>
        </p:txBody>
      </p:sp>
      <p:sp>
        <p:nvSpPr>
          <p:cNvPr id="3" name="TextBox 2"/>
          <p:cNvSpPr txBox="1"/>
          <p:nvPr/>
        </p:nvSpPr>
        <p:spPr>
          <a:xfrm>
            <a:off x="457200" y="1238250"/>
            <a:ext cx="6766560" cy="571500"/>
          </a:xfrm>
          <a:prstGeom prst="rect">
            <a:avLst/>
          </a:prstGeom>
          <a:noFill/>
          <a:effectLst/>
        </p:spPr>
        <p:txBody>
          <a:bodyPr wrap="square" lIns="0" rIns="0" tIns="0" bIns="0">
            <a:spAutoFit/>
          </a:bodyPr>
          <a:lstStyle/>
          <a:p>
            <a:pPr>
              <a:lnSpc>
                <a:spcPct val="115000"/>
              </a:lnSpc>
            </a:pPr>
            <a:r>
              <a:rPr sz="1350" b="0">
                <a:solidFill>
                  <a:srgbClr val="535065"/>
                </a:solidFill>
                <a:latin typeface="Inter"/>
              </a:rPr>
              <a:t>See before and after, side by side, in every target language — nothing ships until you approve it.</a:t>
            </a:r>
          </a:p>
        </p:txBody>
      </p:sp>
      <p:sp>
        <p:nvSpPr>
          <p:cNvPr id="4" name="Rounded Rectangle 3"/>
          <p:cNvSpPr/>
          <p:nvPr/>
        </p:nvSpPr>
        <p:spPr>
          <a:xfrm>
            <a:off x="457200" y="2752725"/>
            <a:ext cx="11277600" cy="2857500"/>
          </a:xfrm>
          <a:prstGeom prst="roundRect">
            <a:avLst>
              <a:gd name="adj" fmla="val 4000"/>
            </a:avLst>
          </a:prstGeom>
          <a:solidFill>
            <a:srgbClr val="F4F5F8"/>
          </a:solidFill>
          <a:ln w="15875">
            <a:solidFill>
              <a:srgbClr val="731EF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0" name="icon-image-10010"/>
          <p:cNvSpPr/>
          <p:nvPr/>
        </p:nvSpPr>
        <p:spPr>
          <a:xfrm>
            <a:off x="5943600" y="3810000"/>
            <a:ext cx="304800" cy="304800"/>
          </a:xfrm>
          <a:custGeom>
            <a:avLst/>
            <a:gdLst/>
            <a:ahLst/>
            <a:cxnLst/>
            <a:rect l="0" t="0" r="0" b="0"/>
            <a:pathLst>
              <a:path w="24000" h="24000" fill="none" stroke="1">
                <a:moveTo>
                  <a:pt x="3000" y="19000"/>
                </a:moveTo>
                <a:lnTo>
                  <a:pt x="7929" y="14071"/>
                </a:lnTo>
                <a:cubicBezTo>
                  <a:pt x="7968" y="14032"/>
                  <a:pt x="8032" y="14032"/>
                  <a:pt x="8071" y="14071"/>
                </a:cubicBezTo>
                <a:lnTo>
                  <a:pt x="10429" y="16429"/>
                </a:lnTo>
                <a:cubicBezTo>
                  <a:pt x="10468" y="16468"/>
                  <a:pt x="10532" y="16468"/>
                  <a:pt x="10571" y="16429"/>
                </a:cubicBezTo>
                <a:lnTo>
                  <a:pt x="16429" y="10571"/>
                </a:lnTo>
                <a:cubicBezTo>
                  <a:pt x="16468" y="10532"/>
                  <a:pt x="16532" y="10532"/>
                  <a:pt x="16571" y="10571"/>
                </a:cubicBezTo>
                <a:lnTo>
                  <a:pt x="21500" y="15500"/>
                </a:lnTo>
                <a:moveTo>
                  <a:pt x="20000" y="20000"/>
                </a:moveTo>
                <a:lnTo>
                  <a:pt x="4000" y="20000"/>
                </a:lnTo>
                <a:cubicBezTo>
                  <a:pt x="2895" y="20000"/>
                  <a:pt x="2000" y="19105"/>
                  <a:pt x="2000" y="18000"/>
                </a:cubicBezTo>
                <a:lnTo>
                  <a:pt x="2000" y="6000"/>
                </a:lnTo>
                <a:cubicBezTo>
                  <a:pt x="2000" y="4895"/>
                  <a:pt x="2895" y="4000"/>
                  <a:pt x="4000" y="4000"/>
                </a:cubicBezTo>
                <a:lnTo>
                  <a:pt x="20000" y="4000"/>
                </a:lnTo>
                <a:cubicBezTo>
                  <a:pt x="21105" y="4000"/>
                  <a:pt x="22000" y="4895"/>
                  <a:pt x="22000" y="6000"/>
                </a:cubicBezTo>
                <a:lnTo>
                  <a:pt x="22000" y="18000"/>
                </a:lnTo>
                <a:cubicBezTo>
                  <a:pt x="22000" y="19105"/>
                  <a:pt x="21105" y="20000"/>
                  <a:pt x="20000" y="20000"/>
                </a:cubicBezTo>
                <a:close/>
                <a:moveTo>
                  <a:pt x="10000" y="9000"/>
                </a:moveTo>
                <a:cubicBezTo>
                  <a:pt x="10000" y="10105"/>
                  <a:pt x="9105" y="11000"/>
                  <a:pt x="8000" y="11000"/>
                </a:cubicBezTo>
                <a:cubicBezTo>
                  <a:pt x="6895" y="11000"/>
                  <a:pt x="6000" y="10105"/>
                  <a:pt x="6000" y="9000"/>
                </a:cubicBezTo>
                <a:cubicBezTo>
                  <a:pt x="6000" y="7895"/>
                  <a:pt x="6895" y="7000"/>
                  <a:pt x="8000" y="7000"/>
                </a:cubicBezTo>
                <a:cubicBezTo>
                  <a:pt x="9105" y="7000"/>
                  <a:pt x="10000" y="7895"/>
                  <a:pt x="10000" y="9000"/>
                </a:cubicBezTo>
                <a:close/>
              </a:path>
            </a:pathLst>
          </a:custGeom>
          <a:noFill/>
          <a:ln w="25400" cap="rnd">
            <a:solidFill>
              <a:srgbClr val="731EF2"/>
            </a:solidFill>
            <a:round/>
          </a:ln>
          <a:effectLst/>
        </p:spPr>
        <p:txBody>
          <a:bodyPr/>
          <a:lstStyle/>
          <a:p/>
        </p:txBody>
      </p:sp>
      <p:sp>
        <p:nvSpPr>
          <p:cNvPr id="10011" name="TextBox 10010"/>
          <p:cNvSpPr txBox="1"/>
          <p:nvPr/>
        </p:nvSpPr>
        <p:spPr>
          <a:xfrm>
            <a:off x="609600" y="4191000"/>
            <a:ext cx="10972800" cy="190500"/>
          </a:xfrm>
          <a:prstGeom prst="rect">
            <a:avLst/>
          </a:prstGeom>
          <a:noFill/>
          <a:effectLst/>
        </p:spPr>
        <p:txBody>
          <a:bodyPr wrap="square" lIns="0" rIns="0" tIns="0" bIns="0">
            <a:spAutoFit/>
          </a:bodyPr>
          <a:lstStyle/>
          <a:p>
            <a:pPr algn="ctr"/>
            <a:r>
              <a:rPr sz="1050" b="1">
                <a:solidFill>
                  <a:srgbClr val="13101C"/>
                </a:solidFill>
                <a:latin typeface="Inter"/>
              </a:rPr>
              <a:t>Source and translation side by side in the review view, with approve, edit and reject in context</a:t>
            </a:r>
          </a:p>
        </p:txBody>
      </p:sp>
      <p:sp>
        <p:nvSpPr>
          <p:cNvPr id="10012" name="TextBox 10011"/>
          <p:cNvSpPr txBox="1"/>
          <p:nvPr/>
        </p:nvSpPr>
        <p:spPr>
          <a:xfrm>
            <a:off x="609600" y="4381500"/>
            <a:ext cx="10972800" cy="171450"/>
          </a:xfrm>
          <a:prstGeom prst="rect">
            <a:avLst/>
          </a:prstGeom>
          <a:noFill/>
          <a:effectLst/>
        </p:spPr>
        <p:txBody>
          <a:bodyPr wrap="square" lIns="0" rIns="0" tIns="0" bIns="0">
            <a:spAutoFit/>
          </a:bodyPr>
          <a:lstStyle/>
          <a:p>
            <a:pPr algn="ctr"/>
            <a:r>
              <a:rPr sz="1050" b="0">
                <a:solidFill>
                  <a:srgbClr val="535065"/>
                </a:solidFill>
                <a:latin typeface="Inter"/>
              </a:rPr>
              <a:t>1184 × 300 px · 3.95:1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1277600" cy="571500"/>
          </a:xfrm>
          <a:prstGeom prst="rect">
            <a:avLst/>
          </a:prstGeom>
          <a:noFill/>
          <a:effectLst/>
        </p:spPr>
        <p:txBody>
          <a:bodyPr wrap="square" lIns="0" rIns="0" tIns="0" bIns="0">
            <a:spAutoFit/>
          </a:bodyPr>
          <a:lstStyle/>
          <a:p>
            <a:r>
              <a:rPr sz="3600" b="1">
                <a:solidFill>
                  <a:srgbClr val="13101C"/>
                </a:solidFill>
                <a:latin typeface="Plus Jakarta Sans"/>
              </a:rPr>
              <a:t>Machine translation stops at the text.</a:t>
            </a:r>
          </a:p>
        </p:txBody>
      </p:sp>
      <p:sp>
        <p:nvSpPr>
          <p:cNvPr id="3" name="TextBox 2"/>
          <p:cNvSpPr txBox="1"/>
          <p:nvPr/>
        </p:nvSpPr>
        <p:spPr>
          <a:xfrm>
            <a:off x="457200" y="2773204"/>
            <a:ext cx="4394200" cy="3627596"/>
          </a:xfrm>
          <a:prstGeom prst="rect">
            <a:avLst/>
          </a:prstGeom>
          <a:noFill/>
          <a:effectLst/>
        </p:spPr>
        <p:txBody>
          <a:bodyPr wrap="square" lIns="0" rIns="0" tIns="0" bIns="0">
            <a:spAutoFit/>
          </a:bodyPr>
          <a:lstStyle/>
          <a:p>
            <a:pPr>
              <a:lnSpc>
                <a:spcPct val="115000"/>
              </a:lnSpc>
            </a:pPr>
            <a:r>
              <a:rPr sz="1350" b="0">
                <a:solidFill>
                  <a:srgbClr val="535065"/>
                </a:solidFill>
                <a:latin typeface="Inter"/>
              </a:rPr>
              <a:t>A machine translation engine converts text and hands it back. The Content Translator Coworker manages the whole job — and delivers the finished file with its layout intact, rather than a block of text for someone to reassemble.</a:t>
            </a:r>
          </a:p>
        </p:txBody>
      </p:sp>
      <p:sp>
        <p:nvSpPr>
          <p:cNvPr id="4" name="Rounded Rectangle 3"/>
          <p:cNvSpPr/>
          <p:nvPr/>
        </p:nvSpPr>
        <p:spPr>
          <a:xfrm>
            <a:off x="5461000" y="2773204"/>
            <a:ext cx="2040467" cy="2092643"/>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51500" y="2963704"/>
            <a:ext cx="381000" cy="381000"/>
          </a:xfrm>
          <a:prstGeom prst="ellipse">
            <a:avLst/>
          </a:prstGeom>
          <a:solidFill>
            <a:srgbClr val="731E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Plus Jakarta Sans"/>
              </a:rPr>
              <a:t>1</a:t>
            </a:r>
          </a:p>
        </p:txBody>
      </p:sp>
      <p:sp>
        <p:nvSpPr>
          <p:cNvPr id="6" name="TextBox 5"/>
          <p:cNvSpPr txBox="1"/>
          <p:nvPr/>
        </p:nvSpPr>
        <p:spPr>
          <a:xfrm>
            <a:off x="5651500" y="3573304"/>
            <a:ext cx="1659467" cy="1102043"/>
          </a:xfrm>
          <a:prstGeom prst="rect">
            <a:avLst/>
          </a:prstGeom>
          <a:noFill/>
          <a:effectLst/>
        </p:spPr>
        <p:txBody>
          <a:bodyPr wrap="square" lIns="0" rIns="0" tIns="0" bIns="0">
            <a:spAutoFit/>
          </a:bodyPr>
          <a:lstStyle/>
          <a:p>
            <a:r>
              <a:rPr sz="1350" b="1">
                <a:solidFill>
                  <a:srgbClr val="13101C"/>
                </a:solidFill>
                <a:latin typeface="Plus Jakarta Sans"/>
              </a:rPr>
              <a:t>Keeps the format</a:t>
            </a:r>
          </a:p>
          <a:p>
            <a:pPr>
              <a:lnSpc>
                <a:spcPct val="115000"/>
              </a:lnSpc>
              <a:spcBef>
                <a:spcPts val="800"/>
              </a:spcBef>
            </a:pPr>
            <a:r>
              <a:rPr sz="1050" b="0">
                <a:solidFill>
                  <a:srgbClr val="535065"/>
                </a:solidFill>
                <a:latin typeface="Inter"/>
              </a:rPr>
              <a:t>Your file comes back in its original format and layout, not as raw text.</a:t>
            </a:r>
          </a:p>
        </p:txBody>
      </p:sp>
      <p:sp>
        <p:nvSpPr>
          <p:cNvPr id="7" name="Rounded Rectangle 6"/>
          <p:cNvSpPr/>
          <p:nvPr/>
        </p:nvSpPr>
        <p:spPr>
          <a:xfrm>
            <a:off x="7577667" y="2773204"/>
            <a:ext cx="2040467" cy="2092643"/>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68167" y="2963704"/>
            <a:ext cx="381000" cy="381000"/>
          </a:xfrm>
          <a:prstGeom prst="ellipse">
            <a:avLst/>
          </a:prstGeom>
          <a:solidFill>
            <a:srgbClr val="731E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Plus Jakarta Sans"/>
              </a:rPr>
              <a:t>2</a:t>
            </a:r>
          </a:p>
        </p:txBody>
      </p:sp>
      <p:sp>
        <p:nvSpPr>
          <p:cNvPr id="9" name="TextBox 8"/>
          <p:cNvSpPr txBox="1"/>
          <p:nvPr/>
        </p:nvSpPr>
        <p:spPr>
          <a:xfrm>
            <a:off x="7768167" y="3573304"/>
            <a:ext cx="1659467" cy="1102043"/>
          </a:xfrm>
          <a:prstGeom prst="rect">
            <a:avLst/>
          </a:prstGeom>
          <a:noFill/>
          <a:effectLst/>
        </p:spPr>
        <p:txBody>
          <a:bodyPr wrap="square" lIns="0" rIns="0" tIns="0" bIns="0">
            <a:spAutoFit/>
          </a:bodyPr>
          <a:lstStyle/>
          <a:p>
            <a:r>
              <a:rPr sz="1350" b="1">
                <a:solidFill>
                  <a:srgbClr val="13101C"/>
                </a:solidFill>
                <a:latin typeface="Plus Jakarta Sans"/>
              </a:rPr>
              <a:t>Knows your voice</a:t>
            </a:r>
          </a:p>
          <a:p>
            <a:pPr>
              <a:lnSpc>
                <a:spcPct val="115000"/>
              </a:lnSpc>
              <a:spcBef>
                <a:spcPts val="800"/>
              </a:spcBef>
            </a:pPr>
            <a:r>
              <a:rPr sz="1050" b="0">
                <a:solidFill>
                  <a:srgbClr val="535065"/>
                </a:solidFill>
                <a:latin typeface="Inter"/>
              </a:rPr>
              <a:t>Brand voice, approved terminology, and market nuance, applied automatically.</a:t>
            </a:r>
          </a:p>
        </p:txBody>
      </p:sp>
      <p:sp>
        <p:nvSpPr>
          <p:cNvPr id="10" name="Rounded Rectangle 9"/>
          <p:cNvSpPr/>
          <p:nvPr/>
        </p:nvSpPr>
        <p:spPr>
          <a:xfrm>
            <a:off x="9694333" y="2773204"/>
            <a:ext cx="2040467" cy="2092643"/>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84833" y="2963704"/>
            <a:ext cx="381000" cy="381000"/>
          </a:xfrm>
          <a:prstGeom prst="ellipse">
            <a:avLst/>
          </a:prstGeom>
          <a:solidFill>
            <a:srgbClr val="731E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Plus Jakarta Sans"/>
              </a:rPr>
              <a:t>3</a:t>
            </a:r>
          </a:p>
        </p:txBody>
      </p:sp>
      <p:sp>
        <p:nvSpPr>
          <p:cNvPr id="12" name="TextBox 11"/>
          <p:cNvSpPr txBox="1"/>
          <p:nvPr/>
        </p:nvSpPr>
        <p:spPr>
          <a:xfrm>
            <a:off x="9884833" y="3573304"/>
            <a:ext cx="1659467" cy="1102043"/>
          </a:xfrm>
          <a:prstGeom prst="rect">
            <a:avLst/>
          </a:prstGeom>
          <a:noFill/>
          <a:effectLst/>
        </p:spPr>
        <p:txBody>
          <a:bodyPr wrap="square" lIns="0" rIns="0" tIns="0" bIns="0">
            <a:spAutoFit/>
          </a:bodyPr>
          <a:lstStyle/>
          <a:p>
            <a:r>
              <a:rPr sz="1350" b="1">
                <a:solidFill>
                  <a:srgbClr val="13101C"/>
                </a:solidFill>
                <a:latin typeface="Plus Jakarta Sans"/>
              </a:rPr>
              <a:t>Checks its own work</a:t>
            </a:r>
          </a:p>
          <a:p>
            <a:pPr>
              <a:lnSpc>
                <a:spcPct val="115000"/>
              </a:lnSpc>
              <a:spcBef>
                <a:spcPts val="800"/>
              </a:spcBef>
            </a:pPr>
            <a:r>
              <a:rPr sz="1050" b="0">
                <a:solidFill>
                  <a:srgbClr val="535065"/>
                </a:solidFill>
                <a:latin typeface="Inter"/>
              </a:rPr>
              <a:t>Scored against your quality criteria, and it iterates before you see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824"/>
        </a:solidFill>
        <a:effectLst/>
      </p:bgPr>
    </p:bg>
    <p:spTree>
      <p:nvGrpSpPr>
        <p:cNvPr id="1" name=""/>
        <p:cNvGrpSpPr/>
        <p:nvPr/>
      </p:nvGrpSpPr>
      <p:grpSpPr/>
      <p:sp>
        <p:nvSpPr>
          <p:cNvPr id="2" name="TextBox 1"/>
          <p:cNvSpPr txBox="1"/>
          <p:nvPr/>
        </p:nvSpPr>
        <p:spPr>
          <a:xfrm>
            <a:off x="457200" y="457200"/>
            <a:ext cx="11277600" cy="5943600"/>
          </a:xfrm>
          <a:prstGeom prst="rect">
            <a:avLst/>
          </a:prstGeom>
          <a:noFill/>
          <a:effectLst/>
        </p:spPr>
        <p:txBody>
          <a:bodyPr wrap="square" lIns="0" rIns="0" tIns="0" bIns="0">
            <a:spAutoFit/>
          </a:bodyPr>
          <a:lstStyle/>
          <a:p>
            <a:r>
              <a:rPr sz="4800" b="1">
                <a:solidFill>
                  <a:srgbClr val="FFFFFF"/>
                </a:solidFill>
                <a:latin typeface="Plus Jakarta Sans"/>
              </a:rPr>
              <a:t>What it covers.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1277600" cy="571500"/>
          </a:xfrm>
          <a:prstGeom prst="rect">
            <a:avLst/>
          </a:prstGeom>
          <a:noFill/>
          <a:effectLst/>
        </p:spPr>
        <p:txBody>
          <a:bodyPr wrap="square" lIns="0" rIns="0" tIns="0" bIns="0">
            <a:spAutoFit/>
          </a:bodyPr>
          <a:lstStyle/>
          <a:p>
            <a:r>
              <a:rPr sz="3600" b="1">
                <a:solidFill>
                  <a:srgbClr val="13101C"/>
                </a:solidFill>
                <a:latin typeface="Plus Jakarta Sans"/>
              </a:rPr>
              <a:t>If it’s content, it translates it.</a:t>
            </a:r>
          </a:p>
        </p:txBody>
      </p:sp>
      <p:sp>
        <p:nvSpPr>
          <p:cNvPr id="3" name="Rounded Rectangle 2"/>
          <p:cNvSpPr/>
          <p:nvPr/>
        </p:nvSpPr>
        <p:spPr>
          <a:xfrm>
            <a:off x="457200" y="2391251"/>
            <a:ext cx="2762250" cy="2856548"/>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2619851"/>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1" name="icon-document-1-10011"/>
          <p:cNvSpPr/>
          <p:nvPr/>
        </p:nvSpPr>
        <p:spPr>
          <a:xfrm>
            <a:off x="819150" y="2753201"/>
            <a:ext cx="266700" cy="266700"/>
          </a:xfrm>
          <a:custGeom>
            <a:avLst/>
            <a:gdLst/>
            <a:ahLst/>
            <a:cxnLst/>
            <a:rect l="0" t="0" r="0" b="0"/>
            <a:pathLst>
              <a:path w="24000" h="24000" fill="none" stroke="1">
                <a:moveTo>
                  <a:pt x="9000" y="16000"/>
                </a:moveTo>
                <a:lnTo>
                  <a:pt x="15000" y="16000"/>
                </a:lnTo>
                <a:moveTo>
                  <a:pt x="9000" y="12000"/>
                </a:moveTo>
                <a:lnTo>
                  <a:pt x="15000" y="12000"/>
                </a:lnTo>
                <a:moveTo>
                  <a:pt x="14172" y="2000"/>
                </a:moveTo>
                <a:lnTo>
                  <a:pt x="6000" y="2000"/>
                </a:lnTo>
                <a:cubicBezTo>
                  <a:pt x="4895" y="2000"/>
                  <a:pt x="4000" y="2895"/>
                  <a:pt x="4000" y="4000"/>
                </a:cubicBezTo>
                <a:lnTo>
                  <a:pt x="4000" y="20000"/>
                </a:lnTo>
                <a:cubicBezTo>
                  <a:pt x="4000" y="21105"/>
                  <a:pt x="4895" y="22000"/>
                  <a:pt x="6000" y="22000"/>
                </a:cubicBezTo>
                <a:lnTo>
                  <a:pt x="18000" y="22000"/>
                </a:lnTo>
                <a:cubicBezTo>
                  <a:pt x="19105" y="22000"/>
                  <a:pt x="20000" y="21105"/>
                  <a:pt x="20000" y="20000"/>
                </a:cubicBezTo>
                <a:lnTo>
                  <a:pt x="20000" y="7828"/>
                </a:lnTo>
                <a:cubicBezTo>
                  <a:pt x="20000" y="7298"/>
                  <a:pt x="19789" y="6789"/>
                  <a:pt x="19414" y="6414"/>
                </a:cubicBezTo>
                <a:lnTo>
                  <a:pt x="15586" y="2586"/>
                </a:lnTo>
                <a:cubicBezTo>
                  <a:pt x="15211" y="2211"/>
                  <a:pt x="14702" y="2000"/>
                  <a:pt x="14172" y="2000"/>
                </a:cubicBezTo>
                <a:close/>
              </a:path>
            </a:pathLst>
          </a:custGeom>
          <a:noFill/>
          <a:ln w="22225" cap="rnd">
            <a:solidFill>
              <a:srgbClr val="731EF2"/>
            </a:solidFill>
            <a:round/>
          </a:ln>
          <a:effectLst/>
        </p:spPr>
        <p:txBody>
          <a:bodyPr/>
          <a:lstStyle/>
          <a:p/>
        </p:txBody>
      </p:sp>
      <p:sp>
        <p:nvSpPr>
          <p:cNvPr id="10012" name="TextBox 10011"/>
          <p:cNvSpPr txBox="1"/>
          <p:nvPr/>
        </p:nvSpPr>
        <p:spPr>
          <a:xfrm>
            <a:off x="685800" y="3381851"/>
            <a:ext cx="2305050" cy="1637347"/>
          </a:xfrm>
          <a:prstGeom prst="rect">
            <a:avLst/>
          </a:prstGeom>
          <a:noFill/>
          <a:effectLst/>
        </p:spPr>
        <p:txBody>
          <a:bodyPr wrap="square" lIns="0" rIns="0" tIns="0" bIns="0">
            <a:spAutoFit/>
          </a:bodyPr>
          <a:lstStyle/>
          <a:p>
            <a:r>
              <a:rPr sz="1800" b="1">
                <a:solidFill>
                  <a:srgbClr val="13101C"/>
                </a:solidFill>
                <a:latin typeface="Plus Jakarta Sans"/>
              </a:rPr>
              <a:t>Documents and PDFs</a:t>
            </a:r>
          </a:p>
          <a:p>
            <a:pPr>
              <a:lnSpc>
                <a:spcPct val="115000"/>
              </a:lnSpc>
              <a:spcBef>
                <a:spcPts val="800"/>
              </a:spcBef>
            </a:pPr>
            <a:r>
              <a:rPr sz="1050" b="0">
                <a:solidFill>
                  <a:srgbClr val="535065"/>
                </a:solidFill>
                <a:latin typeface="Inter"/>
              </a:rPr>
              <a:t>Contracts, policies, reports, and disclosures — including scanned and design-heavy PDFs, translated with the layout intact.</a:t>
            </a:r>
          </a:p>
        </p:txBody>
      </p:sp>
      <p:sp>
        <p:nvSpPr>
          <p:cNvPr id="10013" name="Rounded Rectangle 10012"/>
          <p:cNvSpPr/>
          <p:nvPr/>
        </p:nvSpPr>
        <p:spPr>
          <a:xfrm>
            <a:off x="3295650" y="2391251"/>
            <a:ext cx="2762250" cy="2856548"/>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4" name="Oval 10013"/>
          <p:cNvSpPr/>
          <p:nvPr/>
        </p:nvSpPr>
        <p:spPr>
          <a:xfrm>
            <a:off x="3524250" y="2619851"/>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2" name="icon-megaphone-10012"/>
          <p:cNvSpPr/>
          <p:nvPr/>
        </p:nvSpPr>
        <p:spPr>
          <a:xfrm>
            <a:off x="3657600" y="2753201"/>
            <a:ext cx="266700" cy="266700"/>
          </a:xfrm>
          <a:custGeom>
            <a:avLst/>
            <a:gdLst/>
            <a:ahLst/>
            <a:cxnLst/>
            <a:rect l="0" t="0" r="0" b="0"/>
            <a:pathLst>
              <a:path w="24000" h="24000" fill="none" stroke="1">
                <a:moveTo>
                  <a:pt x="5000" y="14500"/>
                </a:moveTo>
                <a:lnTo>
                  <a:pt x="9000" y="14500"/>
                </a:lnTo>
                <a:moveTo>
                  <a:pt x="5000" y="14500"/>
                </a:moveTo>
                <a:lnTo>
                  <a:pt x="6151" y="19489"/>
                </a:lnTo>
                <a:cubicBezTo>
                  <a:pt x="6355" y="20374"/>
                  <a:pt x="7143" y="21000"/>
                  <a:pt x="8050" y="21000"/>
                </a:cubicBezTo>
                <a:cubicBezTo>
                  <a:pt x="9304" y="21000"/>
                  <a:pt x="10231" y="19834"/>
                  <a:pt x="9949" y="18613"/>
                </a:cubicBezTo>
                <a:lnTo>
                  <a:pt x="9000" y="14500"/>
                </a:lnTo>
                <a:moveTo>
                  <a:pt x="5000" y="14500"/>
                </a:moveTo>
                <a:lnTo>
                  <a:pt x="3995" y="14500"/>
                </a:lnTo>
                <a:cubicBezTo>
                  <a:pt x="2890" y="14500"/>
                  <a:pt x="1995" y="13605"/>
                  <a:pt x="1995" y="12500"/>
                </a:cubicBezTo>
                <a:lnTo>
                  <a:pt x="1995" y="8500"/>
                </a:lnTo>
                <a:cubicBezTo>
                  <a:pt x="1995" y="7395"/>
                  <a:pt x="2890" y="6500"/>
                  <a:pt x="3995" y="6500"/>
                </a:cubicBezTo>
                <a:lnTo>
                  <a:pt x="9000" y="6500"/>
                </a:lnTo>
                <a:moveTo>
                  <a:pt x="9000" y="14500"/>
                </a:moveTo>
                <a:lnTo>
                  <a:pt x="9000" y="6500"/>
                </a:lnTo>
                <a:moveTo>
                  <a:pt x="9000" y="14500"/>
                </a:moveTo>
                <a:lnTo>
                  <a:pt x="16884" y="17124"/>
                </a:lnTo>
                <a:cubicBezTo>
                  <a:pt x="18179" y="17555"/>
                  <a:pt x="19516" y="16591"/>
                  <a:pt x="19516" y="15226"/>
                </a:cubicBezTo>
                <a:lnTo>
                  <a:pt x="19516" y="13021"/>
                </a:lnTo>
                <a:moveTo>
                  <a:pt x="9000" y="6500"/>
                </a:moveTo>
                <a:lnTo>
                  <a:pt x="16890" y="3901"/>
                </a:lnTo>
                <a:cubicBezTo>
                  <a:pt x="18184" y="3475"/>
                  <a:pt x="19516" y="4439"/>
                  <a:pt x="19516" y="5801"/>
                </a:cubicBezTo>
                <a:lnTo>
                  <a:pt x="19516" y="7996"/>
                </a:lnTo>
                <a:moveTo>
                  <a:pt x="19516" y="7996"/>
                </a:moveTo>
                <a:lnTo>
                  <a:pt x="19500" y="10500"/>
                </a:lnTo>
                <a:lnTo>
                  <a:pt x="19516" y="13021"/>
                </a:lnTo>
                <a:moveTo>
                  <a:pt x="19516" y="7996"/>
                </a:moveTo>
                <a:lnTo>
                  <a:pt x="20980" y="7996"/>
                </a:lnTo>
                <a:cubicBezTo>
                  <a:pt x="22085" y="7996"/>
                  <a:pt x="22980" y="8891"/>
                  <a:pt x="22980" y="9996"/>
                </a:cubicBezTo>
                <a:lnTo>
                  <a:pt x="22980" y="11021"/>
                </a:lnTo>
                <a:cubicBezTo>
                  <a:pt x="22980" y="12126"/>
                  <a:pt x="22085" y="13021"/>
                  <a:pt x="20980" y="13021"/>
                </a:cubicBezTo>
                <a:lnTo>
                  <a:pt x="19516" y="13021"/>
                </a:lnTo>
              </a:path>
            </a:pathLst>
          </a:custGeom>
          <a:noFill/>
          <a:ln w="22225" cap="rnd">
            <a:solidFill>
              <a:srgbClr val="731EF2"/>
            </a:solidFill>
            <a:round/>
          </a:ln>
          <a:effectLst/>
        </p:spPr>
        <p:txBody>
          <a:bodyPr/>
          <a:lstStyle/>
          <a:p/>
        </p:txBody>
      </p:sp>
      <p:sp>
        <p:nvSpPr>
          <p:cNvPr id="10015" name="TextBox 10014"/>
          <p:cNvSpPr txBox="1"/>
          <p:nvPr/>
        </p:nvSpPr>
        <p:spPr>
          <a:xfrm>
            <a:off x="3524250" y="3381851"/>
            <a:ext cx="2305050" cy="1637347"/>
          </a:xfrm>
          <a:prstGeom prst="rect">
            <a:avLst/>
          </a:prstGeom>
          <a:noFill/>
          <a:effectLst/>
        </p:spPr>
        <p:txBody>
          <a:bodyPr wrap="square" lIns="0" rIns="0" tIns="0" bIns="0">
            <a:spAutoFit/>
          </a:bodyPr>
          <a:lstStyle/>
          <a:p>
            <a:r>
              <a:rPr sz="1800" b="1">
                <a:solidFill>
                  <a:srgbClr val="13101C"/>
                </a:solidFill>
                <a:latin typeface="Plus Jakarta Sans"/>
              </a:rPr>
              <a:t>Video, audio, and subtitles</a:t>
            </a:r>
          </a:p>
          <a:p>
            <a:pPr>
              <a:lnSpc>
                <a:spcPct val="115000"/>
              </a:lnSpc>
              <a:spcBef>
                <a:spcPts val="800"/>
              </a:spcBef>
            </a:pPr>
            <a:r>
              <a:rPr sz="1050" b="0">
                <a:solidFill>
                  <a:srgbClr val="535065"/>
                </a:solidFill>
                <a:latin typeface="Inter"/>
              </a:rPr>
              <a:t>Video localized end to end with AI voices matched to the original, plus SRT and VTT files timed to the source.</a:t>
            </a:r>
          </a:p>
        </p:txBody>
      </p:sp>
      <p:sp>
        <p:nvSpPr>
          <p:cNvPr id="10016" name="Rounded Rectangle 10015"/>
          <p:cNvSpPr/>
          <p:nvPr/>
        </p:nvSpPr>
        <p:spPr>
          <a:xfrm>
            <a:off x="6134100" y="2391251"/>
            <a:ext cx="2762250" cy="2856548"/>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7" name="Oval 10016"/>
          <p:cNvSpPr/>
          <p:nvPr/>
        </p:nvSpPr>
        <p:spPr>
          <a:xfrm>
            <a:off x="6362700" y="2619851"/>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3" name="icon-image-10013"/>
          <p:cNvSpPr/>
          <p:nvPr/>
        </p:nvSpPr>
        <p:spPr>
          <a:xfrm>
            <a:off x="6496050" y="2753201"/>
            <a:ext cx="266700" cy="266700"/>
          </a:xfrm>
          <a:custGeom>
            <a:avLst/>
            <a:gdLst/>
            <a:ahLst/>
            <a:cxnLst/>
            <a:rect l="0" t="0" r="0" b="0"/>
            <a:pathLst>
              <a:path w="24000" h="24000" fill="none" stroke="1">
                <a:moveTo>
                  <a:pt x="3000" y="19000"/>
                </a:moveTo>
                <a:lnTo>
                  <a:pt x="7929" y="14071"/>
                </a:lnTo>
                <a:cubicBezTo>
                  <a:pt x="7968" y="14032"/>
                  <a:pt x="8032" y="14032"/>
                  <a:pt x="8071" y="14071"/>
                </a:cubicBezTo>
                <a:lnTo>
                  <a:pt x="10429" y="16429"/>
                </a:lnTo>
                <a:cubicBezTo>
                  <a:pt x="10468" y="16468"/>
                  <a:pt x="10532" y="16468"/>
                  <a:pt x="10571" y="16429"/>
                </a:cubicBezTo>
                <a:lnTo>
                  <a:pt x="16429" y="10571"/>
                </a:lnTo>
                <a:cubicBezTo>
                  <a:pt x="16468" y="10532"/>
                  <a:pt x="16532" y="10532"/>
                  <a:pt x="16571" y="10571"/>
                </a:cubicBezTo>
                <a:lnTo>
                  <a:pt x="21500" y="15500"/>
                </a:lnTo>
                <a:moveTo>
                  <a:pt x="20000" y="20000"/>
                </a:moveTo>
                <a:lnTo>
                  <a:pt x="4000" y="20000"/>
                </a:lnTo>
                <a:cubicBezTo>
                  <a:pt x="2895" y="20000"/>
                  <a:pt x="2000" y="19105"/>
                  <a:pt x="2000" y="18000"/>
                </a:cubicBezTo>
                <a:lnTo>
                  <a:pt x="2000" y="6000"/>
                </a:lnTo>
                <a:cubicBezTo>
                  <a:pt x="2000" y="4895"/>
                  <a:pt x="2895" y="4000"/>
                  <a:pt x="4000" y="4000"/>
                </a:cubicBezTo>
                <a:lnTo>
                  <a:pt x="20000" y="4000"/>
                </a:lnTo>
                <a:cubicBezTo>
                  <a:pt x="21105" y="4000"/>
                  <a:pt x="22000" y="4895"/>
                  <a:pt x="22000" y="6000"/>
                </a:cubicBezTo>
                <a:lnTo>
                  <a:pt x="22000" y="18000"/>
                </a:lnTo>
                <a:cubicBezTo>
                  <a:pt x="22000" y="19105"/>
                  <a:pt x="21105" y="20000"/>
                  <a:pt x="20000" y="20000"/>
                </a:cubicBezTo>
                <a:close/>
                <a:moveTo>
                  <a:pt x="10000" y="9000"/>
                </a:moveTo>
                <a:cubicBezTo>
                  <a:pt x="10000" y="10105"/>
                  <a:pt x="9105" y="11000"/>
                  <a:pt x="8000" y="11000"/>
                </a:cubicBezTo>
                <a:cubicBezTo>
                  <a:pt x="6895" y="11000"/>
                  <a:pt x="6000" y="10105"/>
                  <a:pt x="6000" y="9000"/>
                </a:cubicBezTo>
                <a:cubicBezTo>
                  <a:pt x="6000" y="7895"/>
                  <a:pt x="6895" y="7000"/>
                  <a:pt x="8000" y="7000"/>
                </a:cubicBezTo>
                <a:cubicBezTo>
                  <a:pt x="9105" y="7000"/>
                  <a:pt x="10000" y="7895"/>
                  <a:pt x="10000" y="9000"/>
                </a:cubicBezTo>
                <a:close/>
              </a:path>
            </a:pathLst>
          </a:custGeom>
          <a:noFill/>
          <a:ln w="22225" cap="rnd">
            <a:solidFill>
              <a:srgbClr val="731EF2"/>
            </a:solidFill>
            <a:round/>
          </a:ln>
          <a:effectLst/>
        </p:spPr>
        <p:txBody>
          <a:bodyPr/>
          <a:lstStyle/>
          <a:p/>
        </p:txBody>
      </p:sp>
      <p:sp>
        <p:nvSpPr>
          <p:cNvPr id="10018" name="TextBox 10017"/>
          <p:cNvSpPr txBox="1"/>
          <p:nvPr/>
        </p:nvSpPr>
        <p:spPr>
          <a:xfrm>
            <a:off x="6362700" y="3381851"/>
            <a:ext cx="2305050" cy="1637347"/>
          </a:xfrm>
          <a:prstGeom prst="rect">
            <a:avLst/>
          </a:prstGeom>
          <a:noFill/>
          <a:effectLst/>
        </p:spPr>
        <p:txBody>
          <a:bodyPr wrap="square" lIns="0" rIns="0" tIns="0" bIns="0">
            <a:spAutoFit/>
          </a:bodyPr>
          <a:lstStyle/>
          <a:p>
            <a:r>
              <a:rPr sz="1800" b="1">
                <a:solidFill>
                  <a:srgbClr val="13101C"/>
                </a:solidFill>
                <a:latin typeface="Plus Jakarta Sans"/>
              </a:rPr>
              <a:t>Courses, software, and images</a:t>
            </a:r>
          </a:p>
          <a:p>
            <a:pPr>
              <a:lnSpc>
                <a:spcPct val="115000"/>
              </a:lnSpc>
              <a:spcBef>
                <a:spcPts val="800"/>
              </a:spcBef>
            </a:pPr>
            <a:r>
              <a:rPr sz="1050" b="0">
                <a:solidFill>
                  <a:srgbClr val="535065"/>
                </a:solidFill>
                <a:latin typeface="Inter"/>
              </a:rPr>
              <a:t>SCORM and Storyline courses localized without breaking interactivity, UI strings translated in context, and text inside graphics replaced in place.</a:t>
            </a:r>
          </a:p>
        </p:txBody>
      </p:sp>
      <p:sp>
        <p:nvSpPr>
          <p:cNvPr id="10019" name="Rounded Rectangle 10018"/>
          <p:cNvSpPr/>
          <p:nvPr/>
        </p:nvSpPr>
        <p:spPr>
          <a:xfrm>
            <a:off x="8972550" y="2391251"/>
            <a:ext cx="2762250" cy="2856548"/>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0" name="Oval 10019"/>
          <p:cNvSpPr/>
          <p:nvPr/>
        </p:nvSpPr>
        <p:spPr>
          <a:xfrm>
            <a:off x="9201150" y="2619851"/>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4" name="icon-globe-10014"/>
          <p:cNvSpPr/>
          <p:nvPr/>
        </p:nvSpPr>
        <p:spPr>
          <a:xfrm>
            <a:off x="9334500" y="2753201"/>
            <a:ext cx="266700" cy="266700"/>
          </a:xfrm>
          <a:custGeom>
            <a:avLst/>
            <a:gdLst/>
            <a:ahLst/>
            <a:cxnLst/>
            <a:rect l="0" t="0" r="0" b="0"/>
            <a:pathLst>
              <a:path w="24000" h="24000" fill="none" stroke="1">
                <a:moveTo>
                  <a:pt x="22000" y="12000"/>
                </a:moveTo>
                <a:cubicBezTo>
                  <a:pt x="22000" y="14559"/>
                  <a:pt x="21024" y="17118"/>
                  <a:pt x="19071" y="19071"/>
                </a:cubicBezTo>
                <a:cubicBezTo>
                  <a:pt x="15166" y="22976"/>
                  <a:pt x="8834" y="22976"/>
                  <a:pt x="4929" y="19071"/>
                </a:cubicBezTo>
                <a:cubicBezTo>
                  <a:pt x="2976" y="17118"/>
                  <a:pt x="2000" y="14559"/>
                  <a:pt x="2000" y="12000"/>
                </a:cubicBezTo>
                <a:moveTo>
                  <a:pt x="22000" y="12000"/>
                </a:moveTo>
                <a:cubicBezTo>
                  <a:pt x="22000" y="9441"/>
                  <a:pt x="21024" y="6882"/>
                  <a:pt x="19071" y="4929"/>
                </a:cubicBezTo>
                <a:cubicBezTo>
                  <a:pt x="15166" y="1024"/>
                  <a:pt x="8834" y="1024"/>
                  <a:pt x="4929" y="4929"/>
                </a:cubicBezTo>
                <a:cubicBezTo>
                  <a:pt x="2976" y="6882"/>
                  <a:pt x="2000" y="9441"/>
                  <a:pt x="2000" y="12000"/>
                </a:cubicBezTo>
                <a:moveTo>
                  <a:pt x="22000" y="12000"/>
                </a:moveTo>
                <a:lnTo>
                  <a:pt x="2000" y="12000"/>
                </a:lnTo>
                <a:moveTo>
                  <a:pt x="14828" y="19071"/>
                </a:moveTo>
                <a:cubicBezTo>
                  <a:pt x="13266" y="22976"/>
                  <a:pt x="10734" y="22976"/>
                  <a:pt x="9172" y="19071"/>
                </a:cubicBezTo>
                <a:cubicBezTo>
                  <a:pt x="8391" y="17118"/>
                  <a:pt x="8000" y="14559"/>
                  <a:pt x="8000" y="12000"/>
                </a:cubicBezTo>
                <a:cubicBezTo>
                  <a:pt x="8000" y="9441"/>
                  <a:pt x="8391" y="6882"/>
                  <a:pt x="9172" y="4929"/>
                </a:cubicBezTo>
                <a:cubicBezTo>
                  <a:pt x="10734" y="1024"/>
                  <a:pt x="13266" y="1024"/>
                  <a:pt x="14828" y="4929"/>
                </a:cubicBezTo>
                <a:cubicBezTo>
                  <a:pt x="15610" y="6882"/>
                  <a:pt x="16000" y="9441"/>
                  <a:pt x="16000" y="12000"/>
                </a:cubicBezTo>
                <a:cubicBezTo>
                  <a:pt x="16000" y="14559"/>
                  <a:pt x="15610" y="17118"/>
                  <a:pt x="14828" y="19071"/>
                </a:cubicBezTo>
                <a:close/>
              </a:path>
            </a:pathLst>
          </a:custGeom>
          <a:noFill/>
          <a:ln w="22225" cap="rnd">
            <a:solidFill>
              <a:srgbClr val="731EF2"/>
            </a:solidFill>
            <a:round/>
          </a:ln>
          <a:effectLst/>
        </p:spPr>
        <p:txBody>
          <a:bodyPr/>
          <a:lstStyle/>
          <a:p/>
        </p:txBody>
      </p:sp>
      <p:sp>
        <p:nvSpPr>
          <p:cNvPr id="10021" name="TextBox 10020"/>
          <p:cNvSpPr txBox="1"/>
          <p:nvPr/>
        </p:nvSpPr>
        <p:spPr>
          <a:xfrm>
            <a:off x="9201150" y="3381851"/>
            <a:ext cx="2305050" cy="1637347"/>
          </a:xfrm>
          <a:prstGeom prst="rect">
            <a:avLst/>
          </a:prstGeom>
          <a:noFill/>
          <a:effectLst/>
        </p:spPr>
        <p:txBody>
          <a:bodyPr wrap="square" lIns="0" rIns="0" tIns="0" bIns="0">
            <a:spAutoFit/>
          </a:bodyPr>
          <a:lstStyle/>
          <a:p>
            <a:r>
              <a:rPr sz="1800" b="1">
                <a:solidFill>
                  <a:srgbClr val="13101C"/>
                </a:solidFill>
                <a:latin typeface="Plus Jakarta Sans"/>
              </a:rPr>
              <a:t>Web, product, and campaigns</a:t>
            </a:r>
          </a:p>
          <a:p>
            <a:pPr>
              <a:lnSpc>
                <a:spcPct val="115000"/>
              </a:lnSpc>
              <a:spcBef>
                <a:spcPts val="800"/>
              </a:spcBef>
            </a:pPr>
            <a:r>
              <a:rPr sz="1050" b="0">
                <a:solidFill>
                  <a:srgbClr val="535065"/>
                </a:solidFill>
                <a:latin typeface="Inter"/>
              </a:rPr>
              <a:t>Websites, product titles and specs, catalog feeds, and campaign copy — localized for the market, not translated word for word.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1277600" cy="571500"/>
          </a:xfrm>
          <a:prstGeom prst="rect">
            <a:avLst/>
          </a:prstGeom>
          <a:noFill/>
          <a:effectLst/>
        </p:spPr>
        <p:txBody>
          <a:bodyPr wrap="square" lIns="0" rIns="0" tIns="0" bIns="0">
            <a:spAutoFit/>
          </a:bodyPr>
          <a:lstStyle/>
          <a:p>
            <a:r>
              <a:rPr sz="3600" b="1">
                <a:solidFill>
                  <a:srgbClr val="13101C"/>
                </a:solidFill>
                <a:latin typeface="Plus Jakarta Sans"/>
              </a:rPr>
              <a:t>Translation inside the tools you already use.</a:t>
            </a:r>
          </a:p>
        </p:txBody>
      </p:sp>
      <p:graphicFrame>
        <p:nvGraphicFramePr>
          <p:cNvPr id="3" name="Table 2"/>
          <p:cNvGraphicFramePr>
            <a:graphicFrameLocks noGrp="1"/>
          </p:cNvGraphicFramePr>
          <p:nvPr/>
        </p:nvGraphicFramePr>
        <p:xfrm>
          <a:off x="457200" y="2381250"/>
          <a:ext cx="11277600" cy="2876550"/>
        </p:xfrm>
        <a:graphic>
          <a:graphicData uri="http://schemas.openxmlformats.org/drawingml/2006/table">
            <a:tbl>
              <a:tblPr>
                <a:tableStyleId>{5C22544A-7EE6-4342-B048-85BDC9FD1C3A}</a:tableStyleId>
              </a:tblPr>
              <a:tblGrid>
                <a:gridCol w="5638800"/>
                <a:gridCol w="5638800"/>
              </a:tblGrid>
              <a:tr h="381000">
                <a:tc>
                  <a:txBody>
                    <a:bodyPr wrap="square"/>
                    <a:lstStyle/>
                    <a:p>
                      <a:pPr algn="l">
                        <a:lnSpc>
                          <a:spcPct val="115000"/>
                        </a:lnSpc>
                      </a:pPr>
                      <a:r>
                        <a:rPr sz="1050" b="1">
                          <a:solidFill>
                            <a:srgbClr val="13101C"/>
                          </a:solidFill>
                          <a:latin typeface="Inter"/>
                        </a:rPr>
                        <a:t>Where your content lives</a:t>
                      </a:r>
                    </a:p>
                  </a:txBody>
                  <a:tcPr marL="152400" marR="152400" marT="76200" marB="76200" anchor="ctr">
                    <a:lnB w="9525" cap="flat" cmpd="sng" algn="ctr">
                      <a:solidFill>
                        <a:srgbClr val="E5E5EA"/>
                      </a:solidFill>
                      <a:prstDash val="solid"/>
                    </a:lnB>
                    <a:solidFill>
                      <a:srgbClr val="F4F5F8"/>
                    </a:solidFill>
                  </a:tcPr>
                </a:tc>
                <a:tc>
                  <a:txBody>
                    <a:bodyPr wrap="square"/>
                    <a:lstStyle/>
                    <a:p>
                      <a:pPr algn="l">
                        <a:lnSpc>
                          <a:spcPct val="115000"/>
                        </a:lnSpc>
                      </a:pPr>
                      <a:r>
                        <a:rPr sz="1050" b="1">
                          <a:solidFill>
                            <a:srgbClr val="13101C"/>
                          </a:solidFill>
                          <a:latin typeface="Inter"/>
                        </a:rPr>
                        <a:t>Integrations</a:t>
                      </a:r>
                    </a:p>
                  </a:txBody>
                  <a:tcPr marL="152400" marR="152400" marT="76200" marB="76200" anchor="ctr">
                    <a:lnB w="9525" cap="flat" cmpd="sng" algn="ctr">
                      <a:solidFill>
                        <a:srgbClr val="E5E5EA"/>
                      </a:solidFill>
                      <a:prstDash val="solid"/>
                    </a:lnB>
                    <a:solidFill>
                      <a:srgbClr val="F4F5F8"/>
                    </a:solidFill>
                  </a:tcPr>
                </a:tc>
              </a:tr>
              <a:tr h="666750">
                <a:tc>
                  <a:txBody>
                    <a:bodyPr wrap="square"/>
                    <a:lstStyle/>
                    <a:p>
                      <a:pPr algn="l">
                        <a:lnSpc>
                          <a:spcPct val="115000"/>
                        </a:lnSpc>
                      </a:pPr>
                      <a:r>
                        <a:rPr sz="1350" b="1">
                          <a:solidFill>
                            <a:srgbClr val="13101C"/>
                          </a:solidFill>
                          <a:latin typeface="Inter"/>
                        </a:rPr>
                        <a:t>Content and CMS</a:t>
                      </a:r>
                    </a:p>
                  </a:txBody>
                  <a:tcPr marL="152400" marR="152400" marT="76200" marB="76200" anchor="ctr">
                    <a:lnB w="9525" cap="flat" cmpd="sng" algn="ctr">
                      <a:solidFill>
                        <a:srgbClr val="E5E5EA"/>
                      </a:solidFill>
                      <a:prstDash val="solid"/>
                    </a:lnB>
                    <a:solidFill>
                      <a:srgbClr val="F4F5F8"/>
                    </a:solidFill>
                  </a:tcPr>
                </a:tc>
                <a:tc>
                  <a:txBody>
                    <a:bodyPr wrap="square"/>
                    <a:lstStyle/>
                    <a:p>
                      <a:pPr algn="l">
                        <a:lnSpc>
                          <a:spcPct val="115000"/>
                        </a:lnSpc>
                      </a:pPr>
                      <a:r>
                        <a:rPr sz="1350" b="0">
                          <a:solidFill>
                            <a:srgbClr val="535065"/>
                          </a:solidFill>
                          <a:latin typeface="Inter"/>
                        </a:rPr>
                        <a:t>Adobe Experience Manager, Contentful, Sitecore, Drupal, WordPress</a:t>
                      </a:r>
                    </a:p>
                  </a:txBody>
                  <a:tcPr marL="152400" marR="152400" marT="76200" marB="76200" anchor="ctr">
                    <a:lnB w="9525" cap="flat" cmpd="sng" algn="ctr">
                      <a:solidFill>
                        <a:srgbClr val="E5E5EA"/>
                      </a:solidFill>
                      <a:prstDash val="solid"/>
                    </a:lnB>
                    <a:solidFill>
                      <a:srgbClr val="FFFFFF"/>
                    </a:solidFill>
                  </a:tcPr>
                </a:tc>
              </a:tr>
              <a:tr h="457200">
                <a:tc>
                  <a:txBody>
                    <a:bodyPr wrap="square"/>
                    <a:lstStyle/>
                    <a:p>
                      <a:pPr algn="l">
                        <a:lnSpc>
                          <a:spcPct val="115000"/>
                        </a:lnSpc>
                      </a:pPr>
                      <a:r>
                        <a:rPr sz="1350" b="1">
                          <a:solidFill>
                            <a:srgbClr val="13101C"/>
                          </a:solidFill>
                          <a:latin typeface="Inter"/>
                        </a:rPr>
                        <a:t>Docs and storage</a:t>
                      </a:r>
                    </a:p>
                  </a:txBody>
                  <a:tcPr marL="152400" marR="152400" marT="76200" marB="76200" anchor="ctr">
                    <a:lnB w="9525" cap="flat" cmpd="sng" algn="ctr">
                      <a:solidFill>
                        <a:srgbClr val="E5E5EA"/>
                      </a:solidFill>
                      <a:prstDash val="solid"/>
                    </a:lnB>
                    <a:solidFill>
                      <a:srgbClr val="F4F5F8"/>
                    </a:solidFill>
                  </a:tcPr>
                </a:tc>
                <a:tc>
                  <a:txBody>
                    <a:bodyPr wrap="square"/>
                    <a:lstStyle/>
                    <a:p>
                      <a:pPr algn="l">
                        <a:lnSpc>
                          <a:spcPct val="115000"/>
                        </a:lnSpc>
                      </a:pPr>
                      <a:r>
                        <a:rPr sz="1350" b="0">
                          <a:solidFill>
                            <a:srgbClr val="535065"/>
                          </a:solidFill>
                          <a:latin typeface="Inter"/>
                        </a:rPr>
                        <a:t>Google Drive, Google Docs, Google Sheets, SharePoint</a:t>
                      </a:r>
                    </a:p>
                  </a:txBody>
                  <a:tcPr marL="152400" marR="152400" marT="76200" marB="76200" anchor="ctr">
                    <a:lnB w="9525" cap="flat" cmpd="sng" algn="ctr">
                      <a:solidFill>
                        <a:srgbClr val="E5E5EA"/>
                      </a:solidFill>
                      <a:prstDash val="solid"/>
                    </a:lnB>
                    <a:solidFill>
                      <a:srgbClr val="FFFFFF"/>
                    </a:solidFill>
                  </a:tcPr>
                </a:tc>
              </a:tr>
              <a:tr h="457200">
                <a:tc>
                  <a:txBody>
                    <a:bodyPr wrap="square"/>
                    <a:lstStyle/>
                    <a:p>
                      <a:pPr algn="l">
                        <a:lnSpc>
                          <a:spcPct val="115000"/>
                        </a:lnSpc>
                      </a:pPr>
                      <a:r>
                        <a:rPr sz="1350" b="1">
                          <a:solidFill>
                            <a:srgbClr val="13101C"/>
                          </a:solidFill>
                          <a:latin typeface="Inter"/>
                        </a:rPr>
                        <a:t>Commerce and product</a:t>
                      </a:r>
                    </a:p>
                  </a:txBody>
                  <a:tcPr marL="152400" marR="152400" marT="76200" marB="76200" anchor="ctr">
                    <a:lnB w="9525" cap="flat" cmpd="sng" algn="ctr">
                      <a:solidFill>
                        <a:srgbClr val="E5E5EA"/>
                      </a:solidFill>
                      <a:prstDash val="solid"/>
                    </a:lnB>
                    <a:solidFill>
                      <a:srgbClr val="F4F5F8"/>
                    </a:solidFill>
                  </a:tcPr>
                </a:tc>
                <a:tc>
                  <a:txBody>
                    <a:bodyPr wrap="square"/>
                    <a:lstStyle/>
                    <a:p>
                      <a:pPr algn="l">
                        <a:lnSpc>
                          <a:spcPct val="115000"/>
                        </a:lnSpc>
                      </a:pPr>
                      <a:r>
                        <a:rPr sz="1350" b="0">
                          <a:solidFill>
                            <a:srgbClr val="535065"/>
                          </a:solidFill>
                          <a:latin typeface="Inter"/>
                        </a:rPr>
                        <a:t>Salesforce Commerce Cloud, Salsify, Akeneo</a:t>
                      </a:r>
                    </a:p>
                  </a:txBody>
                  <a:tcPr marL="152400" marR="152400" marT="76200" marB="76200" anchor="ctr">
                    <a:lnB w="9525" cap="flat" cmpd="sng" algn="ctr">
                      <a:solidFill>
                        <a:srgbClr val="E5E5EA"/>
                      </a:solidFill>
                      <a:prstDash val="solid"/>
                    </a:lnB>
                    <a:solidFill>
                      <a:srgbClr val="FFFFFF"/>
                    </a:solidFill>
                  </a:tcPr>
                </a:tc>
              </a:tr>
              <a:tr h="457200">
                <a:tc>
                  <a:txBody>
                    <a:bodyPr wrap="square"/>
                    <a:lstStyle/>
                    <a:p>
                      <a:pPr algn="l">
                        <a:lnSpc>
                          <a:spcPct val="115000"/>
                        </a:lnSpc>
                      </a:pPr>
                      <a:r>
                        <a:rPr sz="1350" b="1">
                          <a:solidFill>
                            <a:srgbClr val="13101C"/>
                          </a:solidFill>
                          <a:latin typeface="Inter"/>
                        </a:rPr>
                        <a:t>Support and service</a:t>
                      </a:r>
                    </a:p>
                  </a:txBody>
                  <a:tcPr marL="152400" marR="152400" marT="76200" marB="76200" anchor="ctr">
                    <a:lnB w="9525" cap="flat" cmpd="sng" algn="ctr">
                      <a:solidFill>
                        <a:srgbClr val="E5E5EA"/>
                      </a:solidFill>
                      <a:prstDash val="solid"/>
                    </a:lnB>
                    <a:solidFill>
                      <a:srgbClr val="F4F5F8"/>
                    </a:solidFill>
                  </a:tcPr>
                </a:tc>
                <a:tc>
                  <a:txBody>
                    <a:bodyPr wrap="square"/>
                    <a:lstStyle/>
                    <a:p>
                      <a:pPr algn="l">
                        <a:lnSpc>
                          <a:spcPct val="115000"/>
                        </a:lnSpc>
                      </a:pPr>
                      <a:r>
                        <a:rPr sz="1350" b="0">
                          <a:solidFill>
                            <a:srgbClr val="535065"/>
                          </a:solidFill>
                          <a:latin typeface="Inter"/>
                        </a:rPr>
                        <a:t>Zendesk, ServiceNow, Salesforce Service Cloud</a:t>
                      </a:r>
                    </a:p>
                  </a:txBody>
                  <a:tcPr marL="152400" marR="152400" marT="76200" marB="76200" anchor="ctr">
                    <a:lnB w="9525" cap="flat" cmpd="sng" algn="ctr">
                      <a:solidFill>
                        <a:srgbClr val="E5E5EA"/>
                      </a:solidFill>
                      <a:prstDash val="solid"/>
                    </a:lnB>
                    <a:solidFill>
                      <a:srgbClr val="FFFFFF"/>
                    </a:solidFill>
                  </a:tcPr>
                </a:tc>
              </a:tr>
              <a:tr h="457200">
                <a:tc>
                  <a:txBody>
                    <a:bodyPr wrap="square"/>
                    <a:lstStyle/>
                    <a:p>
                      <a:pPr algn="l">
                        <a:lnSpc>
                          <a:spcPct val="115000"/>
                        </a:lnSpc>
                      </a:pPr>
                      <a:r>
                        <a:rPr sz="1350" b="1">
                          <a:solidFill>
                            <a:srgbClr val="13101C"/>
                          </a:solidFill>
                          <a:latin typeface="Inter"/>
                        </a:rPr>
                        <a:t>Design and engineering</a:t>
                      </a:r>
                    </a:p>
                  </a:txBody>
                  <a:tcPr marL="152400" marR="152400" marT="76200" marB="76200" anchor="ctr">
                    <a:solidFill>
                      <a:srgbClr val="F4F5F8"/>
                    </a:solidFill>
                  </a:tcPr>
                </a:tc>
                <a:tc>
                  <a:txBody>
                    <a:bodyPr wrap="square"/>
                    <a:lstStyle/>
                    <a:p>
                      <a:pPr algn="l">
                        <a:lnSpc>
                          <a:spcPct val="115000"/>
                        </a:lnSpc>
                      </a:pPr>
                      <a:r>
                        <a:rPr sz="1350" b="0">
                          <a:solidFill>
                            <a:srgbClr val="535065"/>
                          </a:solidFill>
                          <a:latin typeface="Inter"/>
                        </a:rPr>
                        <a:t>Figma, Jira, GitHub</a:t>
                      </a:r>
                    </a:p>
                  </a:txBody>
                  <a:tcPr marL="152400" marR="152400" marT="76200" marB="76200"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824"/>
        </a:solidFill>
        <a:effectLst/>
      </p:bgPr>
    </p:bg>
    <p:spTree>
      <p:nvGrpSpPr>
        <p:cNvPr id="1" name=""/>
        <p:cNvGrpSpPr/>
        <p:nvPr/>
      </p:nvGrpSpPr>
      <p:grpSpPr/>
      <p:sp>
        <p:nvSpPr>
          <p:cNvPr id="2" name="TextBox 1"/>
          <p:cNvSpPr txBox="1"/>
          <p:nvPr/>
        </p:nvSpPr>
        <p:spPr>
          <a:xfrm>
            <a:off x="457200" y="457200"/>
            <a:ext cx="11277600" cy="5943600"/>
          </a:xfrm>
          <a:prstGeom prst="rect">
            <a:avLst/>
          </a:prstGeom>
          <a:noFill/>
          <a:effectLst/>
        </p:spPr>
        <p:txBody>
          <a:bodyPr wrap="square" lIns="0" rIns="0" tIns="0" bIns="0">
            <a:spAutoFit/>
          </a:bodyPr>
          <a:lstStyle/>
          <a:p>
            <a:r>
              <a:rPr sz="4800" b="1">
                <a:solidFill>
                  <a:srgbClr val="FFFFFF"/>
                </a:solidFill>
                <a:latin typeface="Plus Jakarta Sans"/>
              </a:rPr>
              <a:t>Proof from teams at scale.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824"/>
        </a:solidFill>
        <a:effectLst/>
      </p:bgPr>
    </p:bg>
    <p:spTree>
      <p:nvGrpSpPr>
        <p:cNvPr id="1" name=""/>
        <p:cNvGrpSpPr/>
        <p:nvPr/>
      </p:nvGrpSpPr>
      <p:grpSpPr/>
      <p:sp>
        <p:nvSpPr>
          <p:cNvPr id="2" name="TextBox 1"/>
          <p:cNvSpPr txBox="1"/>
          <p:nvPr/>
        </p:nvSpPr>
        <p:spPr>
          <a:xfrm>
            <a:off x="457200" y="457200"/>
            <a:ext cx="11277600" cy="571500"/>
          </a:xfrm>
          <a:prstGeom prst="rect">
            <a:avLst/>
          </a:prstGeom>
          <a:noFill/>
          <a:effectLst/>
        </p:spPr>
        <p:txBody>
          <a:bodyPr wrap="square" lIns="0" rIns="0" tIns="0" bIns="0">
            <a:spAutoFit/>
          </a:bodyPr>
          <a:lstStyle/>
          <a:p>
            <a:r>
              <a:rPr sz="3600" b="1">
                <a:solidFill>
                  <a:srgbClr val="FFFFFF"/>
                </a:solidFill>
                <a:latin typeface="Plus Jakarta Sans"/>
              </a:rPr>
              <a:t>What teams get out of it.</a:t>
            </a:r>
          </a:p>
        </p:txBody>
      </p:sp>
      <p:sp>
        <p:nvSpPr>
          <p:cNvPr id="3" name="TextBox 2"/>
          <p:cNvSpPr txBox="1"/>
          <p:nvPr/>
        </p:nvSpPr>
        <p:spPr>
          <a:xfrm>
            <a:off x="457200" y="2608898"/>
            <a:ext cx="4394200" cy="3791902"/>
          </a:xfrm>
          <a:prstGeom prst="rect">
            <a:avLst/>
          </a:prstGeom>
          <a:noFill/>
          <a:effectLst/>
        </p:spPr>
        <p:txBody>
          <a:bodyPr wrap="square" lIns="0" rIns="0" tIns="0" bIns="0">
            <a:spAutoFit/>
          </a:bodyPr>
          <a:lstStyle/>
          <a:p>
            <a:r>
              <a:rPr sz="2400" b="1">
                <a:solidFill>
                  <a:srgbClr val="FFFFFF"/>
                </a:solidFill>
                <a:latin typeface="Plus Jakarta Sans"/>
              </a:rPr>
              <a:t>“Has been a gamechanger in terms of us being able to create campaigns and localise/translate at pace across all the markets we operate in.”</a:t>
            </a:r>
          </a:p>
          <a:p>
            <a:pPr>
              <a:spcBef>
                <a:spcPts val="1600"/>
              </a:spcBef>
            </a:pPr>
            <a:r>
              <a:rPr sz="1350" b="1">
                <a:solidFill>
                  <a:srgbClr val="8A59FC"/>
                </a:solidFill>
                <a:latin typeface="Inter"/>
              </a:rPr>
              <a:t>Verified user, Food &amp; Beverages industry — G2 · 4.6/5 from 131 reviews</a:t>
            </a:r>
          </a:p>
        </p:txBody>
      </p:sp>
      <p:sp>
        <p:nvSpPr>
          <p:cNvPr id="4" name="Rounded Rectangle 3"/>
          <p:cNvSpPr/>
          <p:nvPr/>
        </p:nvSpPr>
        <p:spPr>
          <a:xfrm>
            <a:off x="5461000" y="2608898"/>
            <a:ext cx="2040467" cy="1308735"/>
          </a:xfrm>
          <a:prstGeom prst="roundRect">
            <a:avLst>
              <a:gd name="adj" fmla="val 6000"/>
            </a:avLst>
          </a:prstGeom>
          <a:solidFill>
            <a:srgbClr val="1F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51500" y="2799398"/>
            <a:ext cx="1659467" cy="927735"/>
          </a:xfrm>
          <a:prstGeom prst="rect">
            <a:avLst/>
          </a:prstGeom>
          <a:noFill/>
          <a:effectLst/>
        </p:spPr>
        <p:txBody>
          <a:bodyPr wrap="square" lIns="0" rIns="0" tIns="0" bIns="0">
            <a:spAutoFit/>
          </a:bodyPr>
          <a:lstStyle/>
          <a:p>
            <a:r>
              <a:rPr sz="3600" b="1">
                <a:solidFill>
                  <a:srgbClr val="8A59FC"/>
                </a:solidFill>
                <a:latin typeface="Plus Jakarta Sans"/>
              </a:rPr>
              <a:t>50%</a:t>
            </a:r>
          </a:p>
          <a:p>
            <a:pPr>
              <a:lnSpc>
                <a:spcPct val="115000"/>
              </a:lnSpc>
              <a:spcBef>
                <a:spcPts val="800"/>
              </a:spcBef>
            </a:pPr>
            <a:r>
              <a:rPr sz="1050" b="1">
                <a:solidFill>
                  <a:srgbClr val="FFFFFF"/>
                </a:solidFill>
                <a:latin typeface="Inter"/>
              </a:rPr>
              <a:t>more productivity</a:t>
            </a:r>
          </a:p>
        </p:txBody>
      </p:sp>
      <p:sp>
        <p:nvSpPr>
          <p:cNvPr id="6" name="Rounded Rectangle 5"/>
          <p:cNvSpPr/>
          <p:nvPr/>
        </p:nvSpPr>
        <p:spPr>
          <a:xfrm>
            <a:off x="7577667" y="2608898"/>
            <a:ext cx="2040467" cy="1308735"/>
          </a:xfrm>
          <a:prstGeom prst="roundRect">
            <a:avLst>
              <a:gd name="adj" fmla="val 6000"/>
            </a:avLst>
          </a:prstGeom>
          <a:solidFill>
            <a:srgbClr val="1F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8167" y="2799398"/>
            <a:ext cx="1659467" cy="927735"/>
          </a:xfrm>
          <a:prstGeom prst="rect">
            <a:avLst/>
          </a:prstGeom>
          <a:noFill/>
          <a:effectLst/>
        </p:spPr>
        <p:txBody>
          <a:bodyPr wrap="square" lIns="0" rIns="0" tIns="0" bIns="0">
            <a:spAutoFit/>
          </a:bodyPr>
          <a:lstStyle/>
          <a:p>
            <a:r>
              <a:rPr sz="3600" b="1">
                <a:solidFill>
                  <a:srgbClr val="8A59FC"/>
                </a:solidFill>
                <a:latin typeface="Plus Jakarta Sans"/>
              </a:rPr>
              <a:t>400%</a:t>
            </a:r>
          </a:p>
          <a:p>
            <a:pPr>
              <a:lnSpc>
                <a:spcPct val="115000"/>
              </a:lnSpc>
              <a:spcBef>
                <a:spcPts val="800"/>
              </a:spcBef>
            </a:pPr>
            <a:r>
              <a:rPr sz="1050" b="1">
                <a:solidFill>
                  <a:srgbClr val="FFFFFF"/>
                </a:solidFill>
                <a:latin typeface="Inter"/>
              </a:rPr>
              <a:t>faster turnaround</a:t>
            </a:r>
          </a:p>
        </p:txBody>
      </p:sp>
      <p:sp>
        <p:nvSpPr>
          <p:cNvPr id="8" name="Rounded Rectangle 7"/>
          <p:cNvSpPr/>
          <p:nvPr/>
        </p:nvSpPr>
        <p:spPr>
          <a:xfrm>
            <a:off x="9694333" y="2608898"/>
            <a:ext cx="2040467" cy="1308735"/>
          </a:xfrm>
          <a:prstGeom prst="roundRect">
            <a:avLst>
              <a:gd name="adj" fmla="val 6000"/>
            </a:avLst>
          </a:prstGeom>
          <a:solidFill>
            <a:srgbClr val="1F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84833" y="2799398"/>
            <a:ext cx="1659467" cy="927735"/>
          </a:xfrm>
          <a:prstGeom prst="rect">
            <a:avLst/>
          </a:prstGeom>
          <a:noFill/>
          <a:effectLst/>
        </p:spPr>
        <p:txBody>
          <a:bodyPr wrap="square" lIns="0" rIns="0" tIns="0" bIns="0">
            <a:spAutoFit/>
          </a:bodyPr>
          <a:lstStyle/>
          <a:p>
            <a:r>
              <a:rPr sz="3600" b="1">
                <a:solidFill>
                  <a:srgbClr val="8A59FC"/>
                </a:solidFill>
                <a:latin typeface="Plus Jakarta Sans"/>
              </a:rPr>
              <a:t>70%</a:t>
            </a:r>
          </a:p>
          <a:p>
            <a:pPr>
              <a:lnSpc>
                <a:spcPct val="115000"/>
              </a:lnSpc>
              <a:spcBef>
                <a:spcPts val="800"/>
              </a:spcBef>
            </a:pPr>
            <a:r>
              <a:rPr sz="1050" b="1">
                <a:solidFill>
                  <a:srgbClr val="FFFFFF"/>
                </a:solidFill>
                <a:latin typeface="Inter"/>
              </a:rPr>
              <a:t>lower content costs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1277600" cy="571500"/>
          </a:xfrm>
          <a:prstGeom prst="rect">
            <a:avLst/>
          </a:prstGeom>
          <a:noFill/>
          <a:effectLst/>
        </p:spPr>
        <p:txBody>
          <a:bodyPr wrap="square" lIns="0" rIns="0" tIns="0" bIns="0">
            <a:spAutoFit/>
          </a:bodyPr>
          <a:lstStyle/>
          <a:p>
            <a:r>
              <a:rPr sz="3600" b="1">
                <a:solidFill>
                  <a:srgbClr val="13101C"/>
                </a:solidFill>
                <a:latin typeface="Plus Jakarta Sans"/>
              </a:rPr>
              <a:t>Scale safely with AI.</a:t>
            </a:r>
          </a:p>
        </p:txBody>
      </p:sp>
      <p:sp>
        <p:nvSpPr>
          <p:cNvPr id="3" name="Rounded Rectangle 2"/>
          <p:cNvSpPr/>
          <p:nvPr/>
        </p:nvSpPr>
        <p:spPr>
          <a:xfrm>
            <a:off x="457200" y="2487930"/>
            <a:ext cx="2762250" cy="266319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2716530"/>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5" name="icon-key-10015"/>
          <p:cNvSpPr/>
          <p:nvPr/>
        </p:nvSpPr>
        <p:spPr>
          <a:xfrm>
            <a:off x="819150" y="2849880"/>
            <a:ext cx="266700" cy="266700"/>
          </a:xfrm>
          <a:custGeom>
            <a:avLst/>
            <a:gdLst/>
            <a:ahLst/>
            <a:cxnLst/>
            <a:rect l="0" t="0" r="0" b="0"/>
            <a:pathLst>
              <a:path w="24000" h="24000" fill="none" stroke="1">
                <a:moveTo>
                  <a:pt x="15182" y="2000"/>
                </a:moveTo>
                <a:cubicBezTo>
                  <a:pt x="18947" y="2000"/>
                  <a:pt x="22000" y="5053"/>
                  <a:pt x="22000" y="8818"/>
                </a:cubicBezTo>
                <a:cubicBezTo>
                  <a:pt x="22000" y="12584"/>
                  <a:pt x="18947" y="15636"/>
                  <a:pt x="15182" y="15636"/>
                </a:cubicBezTo>
                <a:cubicBezTo>
                  <a:pt x="14415" y="15636"/>
                  <a:pt x="13678" y="15509"/>
                  <a:pt x="12990" y="15275"/>
                </a:cubicBezTo>
                <a:cubicBezTo>
                  <a:pt x="12512" y="15113"/>
                  <a:pt x="11995" y="15065"/>
                  <a:pt x="11514" y="15216"/>
                </a:cubicBezTo>
                <a:lnTo>
                  <a:pt x="10881" y="15416"/>
                </a:lnTo>
                <a:cubicBezTo>
                  <a:pt x="10465" y="15547"/>
                  <a:pt x="10182" y="15933"/>
                  <a:pt x="10182" y="16370"/>
                </a:cubicBezTo>
                <a:lnTo>
                  <a:pt x="10182" y="17818"/>
                </a:lnTo>
                <a:cubicBezTo>
                  <a:pt x="10182" y="18370"/>
                  <a:pt x="9734" y="18818"/>
                  <a:pt x="9182" y="18818"/>
                </a:cubicBezTo>
                <a:lnTo>
                  <a:pt x="8000" y="18818"/>
                </a:lnTo>
                <a:cubicBezTo>
                  <a:pt x="7448" y="18818"/>
                  <a:pt x="7000" y="19266"/>
                  <a:pt x="7000" y="19818"/>
                </a:cubicBezTo>
                <a:lnTo>
                  <a:pt x="7000" y="21000"/>
                </a:lnTo>
                <a:cubicBezTo>
                  <a:pt x="7000" y="21552"/>
                  <a:pt x="6552" y="22000"/>
                  <a:pt x="6000" y="22000"/>
                </a:cubicBezTo>
                <a:lnTo>
                  <a:pt x="4000" y="22000"/>
                </a:lnTo>
                <a:cubicBezTo>
                  <a:pt x="2895" y="22000"/>
                  <a:pt x="2000" y="21105"/>
                  <a:pt x="2000" y="20000"/>
                </a:cubicBezTo>
                <a:lnTo>
                  <a:pt x="2000" y="18323"/>
                </a:lnTo>
                <a:cubicBezTo>
                  <a:pt x="2000" y="18058"/>
                  <a:pt x="2105" y="17804"/>
                  <a:pt x="2293" y="17616"/>
                </a:cubicBezTo>
                <a:lnTo>
                  <a:pt x="7870" y="12038"/>
                </a:lnTo>
                <a:cubicBezTo>
                  <a:pt x="8419" y="11489"/>
                  <a:pt x="8574" y="10676"/>
                  <a:pt x="8451" y="9910"/>
                </a:cubicBezTo>
                <a:cubicBezTo>
                  <a:pt x="8393" y="9554"/>
                  <a:pt x="8364" y="9190"/>
                  <a:pt x="8364" y="8818"/>
                </a:cubicBezTo>
                <a:cubicBezTo>
                  <a:pt x="8364" y="5053"/>
                  <a:pt x="11416" y="2000"/>
                  <a:pt x="15182" y="2000"/>
                </a:cubicBezTo>
                <a:close/>
              </a:path>
            </a:pathLst>
          </a:custGeom>
          <a:noFill/>
          <a:ln w="22225" cap="rnd">
            <a:solidFill>
              <a:srgbClr val="731EF2"/>
            </a:solidFill>
            <a:round/>
          </a:ln>
          <a:effectLst/>
        </p:spPr>
        <p:txBody>
          <a:bodyPr/>
          <a:lstStyle/>
          <a:p/>
        </p:txBody>
      </p:sp>
      <p:sp>
        <p:nvSpPr>
          <p:cNvPr id="10016" name="TextBox 10015"/>
          <p:cNvSpPr txBox="1"/>
          <p:nvPr/>
        </p:nvSpPr>
        <p:spPr>
          <a:xfrm>
            <a:off x="685800" y="3478530"/>
            <a:ext cx="2305050" cy="1443990"/>
          </a:xfrm>
          <a:prstGeom prst="rect">
            <a:avLst/>
          </a:prstGeom>
          <a:noFill/>
          <a:effectLst/>
        </p:spPr>
        <p:txBody>
          <a:bodyPr wrap="square" lIns="0" rIns="0" tIns="0" bIns="0">
            <a:spAutoFit/>
          </a:bodyPr>
          <a:lstStyle/>
          <a:p>
            <a:r>
              <a:rPr sz="1800" b="1">
                <a:solidFill>
                  <a:srgbClr val="13101C"/>
                </a:solidFill>
                <a:latin typeface="Plus Jakarta Sans"/>
              </a:rPr>
              <a:t>Access on your terms</a:t>
            </a:r>
          </a:p>
          <a:p>
            <a:pPr>
              <a:lnSpc>
                <a:spcPct val="115000"/>
              </a:lnSpc>
              <a:spcBef>
                <a:spcPts val="800"/>
              </a:spcBef>
            </a:pPr>
            <a:r>
              <a:rPr sz="1050" b="0">
                <a:solidFill>
                  <a:srgbClr val="535065"/>
                </a:solidFill>
                <a:latin typeface="Inter"/>
              </a:rPr>
              <a:t>Role-based access by department, role, or region, with SSO and identity management through your existing provider.</a:t>
            </a:r>
          </a:p>
        </p:txBody>
      </p:sp>
      <p:sp>
        <p:nvSpPr>
          <p:cNvPr id="10017" name="Rounded Rectangle 10016"/>
          <p:cNvSpPr/>
          <p:nvPr/>
        </p:nvSpPr>
        <p:spPr>
          <a:xfrm>
            <a:off x="3295650" y="2487930"/>
            <a:ext cx="2762250" cy="266319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8" name="Oval 10017"/>
          <p:cNvSpPr/>
          <p:nvPr/>
        </p:nvSpPr>
        <p:spPr>
          <a:xfrm>
            <a:off x="3524250" y="2716530"/>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6" name="icon-security-10016"/>
          <p:cNvSpPr/>
          <p:nvPr/>
        </p:nvSpPr>
        <p:spPr>
          <a:xfrm>
            <a:off x="3657600" y="2849880"/>
            <a:ext cx="266700" cy="266700"/>
          </a:xfrm>
          <a:custGeom>
            <a:avLst/>
            <a:gdLst/>
            <a:ahLst/>
            <a:cxnLst/>
            <a:rect l="0" t="0" r="0" b="0"/>
            <a:pathLst>
              <a:path w="24000" h="24000" fill="none" stroke="1">
                <a:moveTo>
                  <a:pt x="9000" y="11500"/>
                </a:moveTo>
                <a:lnTo>
                  <a:pt x="11146" y="13646"/>
                </a:lnTo>
                <a:cubicBezTo>
                  <a:pt x="11342" y="13842"/>
                  <a:pt x="11658" y="13842"/>
                  <a:pt x="11854" y="13646"/>
                </a:cubicBezTo>
                <a:lnTo>
                  <a:pt x="16500" y="9000"/>
                </a:lnTo>
                <a:moveTo>
                  <a:pt x="20000" y="12500"/>
                </a:moveTo>
                <a:cubicBezTo>
                  <a:pt x="20000" y="8839"/>
                  <a:pt x="20000" y="6749"/>
                  <a:pt x="20000" y="5558"/>
                </a:cubicBezTo>
                <a:cubicBezTo>
                  <a:pt x="20000" y="4641"/>
                  <a:pt x="19376" y="3844"/>
                  <a:pt x="18485" y="3621"/>
                </a:cubicBezTo>
                <a:lnTo>
                  <a:pt x="12485" y="2121"/>
                </a:lnTo>
                <a:cubicBezTo>
                  <a:pt x="12167" y="2042"/>
                  <a:pt x="11833" y="2042"/>
                  <a:pt x="11515" y="2121"/>
                </a:cubicBezTo>
                <a:lnTo>
                  <a:pt x="5515" y="3621"/>
                </a:lnTo>
                <a:cubicBezTo>
                  <a:pt x="4625" y="3844"/>
                  <a:pt x="4000" y="4641"/>
                  <a:pt x="4000" y="5559"/>
                </a:cubicBezTo>
                <a:cubicBezTo>
                  <a:pt x="4000" y="6749"/>
                  <a:pt x="4000" y="8840"/>
                  <a:pt x="4000" y="12500"/>
                </a:cubicBezTo>
                <a:cubicBezTo>
                  <a:pt x="4000" y="19471"/>
                  <a:pt x="10074" y="21506"/>
                  <a:pt x="11637" y="21915"/>
                </a:cubicBezTo>
                <a:cubicBezTo>
                  <a:pt x="11877" y="21978"/>
                  <a:pt x="12124" y="21978"/>
                  <a:pt x="12363" y="21915"/>
                </a:cubicBezTo>
                <a:cubicBezTo>
                  <a:pt x="13926" y="21506"/>
                  <a:pt x="20000" y="19471"/>
                  <a:pt x="20000" y="12500"/>
                </a:cubicBezTo>
                <a:close/>
              </a:path>
            </a:pathLst>
          </a:custGeom>
          <a:noFill/>
          <a:ln w="22225" cap="rnd">
            <a:solidFill>
              <a:srgbClr val="731EF2"/>
            </a:solidFill>
            <a:round/>
          </a:ln>
          <a:effectLst/>
        </p:spPr>
        <p:txBody>
          <a:bodyPr/>
          <a:lstStyle/>
          <a:p/>
        </p:txBody>
      </p:sp>
      <p:sp>
        <p:nvSpPr>
          <p:cNvPr id="10019" name="TextBox 10018"/>
          <p:cNvSpPr txBox="1"/>
          <p:nvPr/>
        </p:nvSpPr>
        <p:spPr>
          <a:xfrm>
            <a:off x="3524250" y="3478530"/>
            <a:ext cx="2305050" cy="1443990"/>
          </a:xfrm>
          <a:prstGeom prst="rect">
            <a:avLst/>
          </a:prstGeom>
          <a:noFill/>
          <a:effectLst/>
        </p:spPr>
        <p:txBody>
          <a:bodyPr wrap="square" lIns="0" rIns="0" tIns="0" bIns="0">
            <a:spAutoFit/>
          </a:bodyPr>
          <a:lstStyle/>
          <a:p>
            <a:r>
              <a:rPr sz="1800" b="1">
                <a:solidFill>
                  <a:srgbClr val="13101C"/>
                </a:solidFill>
                <a:latin typeface="Plus Jakarta Sans"/>
              </a:rPr>
              <a:t>SOC 2 compliant infrastructure</a:t>
            </a:r>
          </a:p>
          <a:p>
            <a:pPr>
              <a:lnSpc>
                <a:spcPct val="115000"/>
              </a:lnSpc>
              <a:spcBef>
                <a:spcPts val="800"/>
              </a:spcBef>
            </a:pPr>
            <a:r>
              <a:rPr sz="1050" b="0">
                <a:solidFill>
                  <a:srgbClr val="535065"/>
                </a:solidFill>
                <a:latin typeface="Inter"/>
              </a:rPr>
              <a:t>Exceeds demanding data security and governance standards, with encryption at rest and in transit.</a:t>
            </a:r>
          </a:p>
        </p:txBody>
      </p:sp>
      <p:sp>
        <p:nvSpPr>
          <p:cNvPr id="10020" name="Rounded Rectangle 10019"/>
          <p:cNvSpPr/>
          <p:nvPr/>
        </p:nvSpPr>
        <p:spPr>
          <a:xfrm>
            <a:off x="6134100" y="2487930"/>
            <a:ext cx="2762250" cy="266319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1" name="Oval 10020"/>
          <p:cNvSpPr/>
          <p:nvPr/>
        </p:nvSpPr>
        <p:spPr>
          <a:xfrm>
            <a:off x="6362700" y="2716530"/>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7" name="icon-lock-closed-10017"/>
          <p:cNvSpPr/>
          <p:nvPr/>
        </p:nvSpPr>
        <p:spPr>
          <a:xfrm>
            <a:off x="6496050" y="2849880"/>
            <a:ext cx="266700" cy="266700"/>
          </a:xfrm>
          <a:custGeom>
            <a:avLst/>
            <a:gdLst/>
            <a:ahLst/>
            <a:cxnLst/>
            <a:rect l="0" t="0" r="0" b="0"/>
            <a:pathLst>
              <a:path w="24000" h="24000" fill="none" stroke="1">
                <a:moveTo>
                  <a:pt x="12000" y="13000"/>
                </a:moveTo>
                <a:lnTo>
                  <a:pt x="12000" y="15000"/>
                </a:lnTo>
                <a:moveTo>
                  <a:pt x="19000" y="21000"/>
                </a:moveTo>
                <a:lnTo>
                  <a:pt x="5000" y="21000"/>
                </a:lnTo>
                <a:cubicBezTo>
                  <a:pt x="3895" y="21000"/>
                  <a:pt x="3000" y="20105"/>
                  <a:pt x="3000" y="19000"/>
                </a:cubicBezTo>
                <a:lnTo>
                  <a:pt x="3000" y="10000"/>
                </a:lnTo>
                <a:cubicBezTo>
                  <a:pt x="3000" y="8895"/>
                  <a:pt x="3895" y="8000"/>
                  <a:pt x="5000" y="8000"/>
                </a:cubicBezTo>
                <a:lnTo>
                  <a:pt x="19000" y="8000"/>
                </a:lnTo>
                <a:cubicBezTo>
                  <a:pt x="20105" y="8000"/>
                  <a:pt x="21000" y="8895"/>
                  <a:pt x="21000" y="10000"/>
                </a:cubicBezTo>
                <a:lnTo>
                  <a:pt x="21000" y="19000"/>
                </a:lnTo>
                <a:cubicBezTo>
                  <a:pt x="21000" y="20105"/>
                  <a:pt x="20105" y="21000"/>
                  <a:pt x="19000" y="21000"/>
                </a:cubicBezTo>
                <a:close/>
                <a:moveTo>
                  <a:pt x="8000" y="8000"/>
                </a:moveTo>
                <a:lnTo>
                  <a:pt x="8000" y="5500"/>
                </a:lnTo>
                <a:cubicBezTo>
                  <a:pt x="8000" y="3291"/>
                  <a:pt x="9791" y="1500"/>
                  <a:pt x="12000" y="1500"/>
                </a:cubicBezTo>
                <a:cubicBezTo>
                  <a:pt x="14209" y="1500"/>
                  <a:pt x="16000" y="3291"/>
                  <a:pt x="16000" y="5500"/>
                </a:cubicBezTo>
                <a:lnTo>
                  <a:pt x="16000" y="8000"/>
                </a:lnTo>
                <a:lnTo>
                  <a:pt x="8000" y="8000"/>
                </a:lnTo>
                <a:close/>
              </a:path>
            </a:pathLst>
          </a:custGeom>
          <a:noFill/>
          <a:ln w="22225" cap="rnd">
            <a:solidFill>
              <a:srgbClr val="731EF2"/>
            </a:solidFill>
            <a:round/>
          </a:ln>
          <a:effectLst/>
        </p:spPr>
        <p:txBody>
          <a:bodyPr/>
          <a:lstStyle/>
          <a:p/>
        </p:txBody>
      </p:sp>
      <p:sp>
        <p:nvSpPr>
          <p:cNvPr id="10022" name="TextBox 10021"/>
          <p:cNvSpPr txBox="1"/>
          <p:nvPr/>
        </p:nvSpPr>
        <p:spPr>
          <a:xfrm>
            <a:off x="6362700" y="3478530"/>
            <a:ext cx="2305050" cy="1443990"/>
          </a:xfrm>
          <a:prstGeom prst="rect">
            <a:avLst/>
          </a:prstGeom>
          <a:noFill/>
          <a:effectLst/>
        </p:spPr>
        <p:txBody>
          <a:bodyPr wrap="square" lIns="0" rIns="0" tIns="0" bIns="0">
            <a:spAutoFit/>
          </a:bodyPr>
          <a:lstStyle/>
          <a:p>
            <a:r>
              <a:rPr sz="1800" b="1">
                <a:solidFill>
                  <a:srgbClr val="13101C"/>
                </a:solidFill>
                <a:latin typeface="Plus Jakarta Sans"/>
              </a:rPr>
              <a:t>Never used to train public models</a:t>
            </a:r>
          </a:p>
          <a:p>
            <a:pPr>
              <a:lnSpc>
                <a:spcPct val="115000"/>
              </a:lnSpc>
              <a:spcBef>
                <a:spcPts val="800"/>
              </a:spcBef>
            </a:pPr>
            <a:r>
              <a:rPr sz="1050" b="0">
                <a:solidFill>
                  <a:srgbClr val="535065"/>
                </a:solidFill>
                <a:latin typeface="Inter"/>
              </a:rPr>
              <a:t>Your content stays yours. It is never used to train public AI models.</a:t>
            </a:r>
          </a:p>
        </p:txBody>
      </p:sp>
      <p:sp>
        <p:nvSpPr>
          <p:cNvPr id="10023" name="Rounded Rectangle 10022"/>
          <p:cNvSpPr/>
          <p:nvPr/>
        </p:nvSpPr>
        <p:spPr>
          <a:xfrm>
            <a:off x="8972550" y="2487930"/>
            <a:ext cx="2762250" cy="266319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4" name="Oval 10023"/>
          <p:cNvSpPr/>
          <p:nvPr/>
        </p:nvSpPr>
        <p:spPr>
          <a:xfrm>
            <a:off x="9201150" y="2716530"/>
            <a:ext cx="533400" cy="533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8" name="icon-document-2-10018"/>
          <p:cNvSpPr/>
          <p:nvPr/>
        </p:nvSpPr>
        <p:spPr>
          <a:xfrm>
            <a:off x="9334500" y="2849880"/>
            <a:ext cx="266700" cy="266700"/>
          </a:xfrm>
          <a:custGeom>
            <a:avLst/>
            <a:gdLst/>
            <a:ahLst/>
            <a:cxnLst/>
            <a:rect l="0" t="0" r="0" b="0"/>
            <a:pathLst>
              <a:path w="24000" h="24000" fill="none" stroke="1">
                <a:moveTo>
                  <a:pt x="8000" y="17000"/>
                </a:moveTo>
                <a:lnTo>
                  <a:pt x="8750" y="15125"/>
                </a:lnTo>
                <a:lnTo>
                  <a:pt x="11536" y="8161"/>
                </a:lnTo>
                <a:cubicBezTo>
                  <a:pt x="11703" y="7742"/>
                  <a:pt x="12297" y="7742"/>
                  <a:pt x="12464" y="8161"/>
                </a:cubicBezTo>
                <a:lnTo>
                  <a:pt x="15250" y="15125"/>
                </a:lnTo>
                <a:moveTo>
                  <a:pt x="15250" y="15125"/>
                </a:moveTo>
                <a:lnTo>
                  <a:pt x="16000" y="17000"/>
                </a:lnTo>
                <a:moveTo>
                  <a:pt x="15250" y="15125"/>
                </a:moveTo>
                <a:lnTo>
                  <a:pt x="8750" y="15125"/>
                </a:lnTo>
                <a:moveTo>
                  <a:pt x="14172" y="2000"/>
                </a:moveTo>
                <a:lnTo>
                  <a:pt x="6000" y="2000"/>
                </a:lnTo>
                <a:cubicBezTo>
                  <a:pt x="4895" y="2000"/>
                  <a:pt x="4000" y="2895"/>
                  <a:pt x="4000" y="4000"/>
                </a:cubicBezTo>
                <a:lnTo>
                  <a:pt x="4000" y="20000"/>
                </a:lnTo>
                <a:cubicBezTo>
                  <a:pt x="4000" y="21105"/>
                  <a:pt x="4895" y="22000"/>
                  <a:pt x="6000" y="22000"/>
                </a:cubicBezTo>
                <a:lnTo>
                  <a:pt x="18000" y="22000"/>
                </a:lnTo>
                <a:cubicBezTo>
                  <a:pt x="19105" y="22000"/>
                  <a:pt x="20000" y="21105"/>
                  <a:pt x="20000" y="20000"/>
                </a:cubicBezTo>
                <a:lnTo>
                  <a:pt x="20000" y="7828"/>
                </a:lnTo>
                <a:cubicBezTo>
                  <a:pt x="20000" y="7298"/>
                  <a:pt x="19789" y="6789"/>
                  <a:pt x="19414" y="6414"/>
                </a:cubicBezTo>
                <a:lnTo>
                  <a:pt x="15586" y="2586"/>
                </a:lnTo>
                <a:cubicBezTo>
                  <a:pt x="15211" y="2211"/>
                  <a:pt x="14702" y="2000"/>
                  <a:pt x="14172" y="2000"/>
                </a:cubicBezTo>
                <a:close/>
              </a:path>
            </a:pathLst>
          </a:custGeom>
          <a:noFill/>
          <a:ln w="22225" cap="rnd">
            <a:solidFill>
              <a:srgbClr val="731EF2"/>
            </a:solidFill>
            <a:round/>
          </a:ln>
          <a:effectLst/>
        </p:spPr>
        <p:txBody>
          <a:bodyPr/>
          <a:lstStyle/>
          <a:p/>
        </p:txBody>
      </p:sp>
      <p:sp>
        <p:nvSpPr>
          <p:cNvPr id="10025" name="TextBox 10024"/>
          <p:cNvSpPr txBox="1"/>
          <p:nvPr/>
        </p:nvSpPr>
        <p:spPr>
          <a:xfrm>
            <a:off x="9201150" y="3478530"/>
            <a:ext cx="2305050" cy="1443990"/>
          </a:xfrm>
          <a:prstGeom prst="rect">
            <a:avLst/>
          </a:prstGeom>
          <a:noFill/>
          <a:effectLst/>
        </p:spPr>
        <p:txBody>
          <a:bodyPr wrap="square" lIns="0" rIns="0" tIns="0" bIns="0">
            <a:spAutoFit/>
          </a:bodyPr>
          <a:lstStyle/>
          <a:p>
            <a:r>
              <a:rPr sz="1800" b="1">
                <a:solidFill>
                  <a:srgbClr val="13101C"/>
                </a:solidFill>
                <a:latin typeface="Plus Jakarta Sans"/>
              </a:rPr>
              <a:t>Audit trails and oversight</a:t>
            </a:r>
          </a:p>
          <a:p>
            <a:pPr>
              <a:lnSpc>
                <a:spcPct val="115000"/>
              </a:lnSpc>
              <a:spcBef>
                <a:spcPts val="800"/>
              </a:spcBef>
            </a:pPr>
            <a:r>
              <a:rPr sz="1050" b="0">
                <a:solidFill>
                  <a:srgbClr val="535065"/>
                </a:solidFill>
                <a:latin typeface="Inter"/>
              </a:rPr>
              <a:t>Centralized visibility into AI usage, plus immutable records of who automated what, when, and where.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824"/>
        </a:solidFill>
        <a:effectLst/>
      </p:bgPr>
    </p:bg>
    <p:spTree>
      <p:nvGrpSpPr>
        <p:cNvPr id="1" name=""/>
        <p:cNvGrpSpPr/>
        <p:nvPr/>
      </p:nvGrpSpPr>
      <p:grpSpPr/>
      <p:sp>
        <p:nvSpPr>
          <p:cNvPr id="2" name="TextBox 1"/>
          <p:cNvSpPr txBox="1"/>
          <p:nvPr/>
        </p:nvSpPr>
        <p:spPr>
          <a:xfrm>
            <a:off x="457200" y="457200"/>
            <a:ext cx="11277600" cy="1524000"/>
          </a:xfrm>
          <a:prstGeom prst="rect">
            <a:avLst/>
          </a:prstGeom>
          <a:noFill/>
          <a:effectLst/>
        </p:spPr>
        <p:txBody>
          <a:bodyPr wrap="square" lIns="0" rIns="0" tIns="0" bIns="0">
            <a:spAutoFit/>
          </a:bodyPr>
          <a:lstStyle/>
          <a:p>
            <a:r>
              <a:rPr sz="4800" b="1">
                <a:solidFill>
                  <a:srgbClr val="FFFFFF"/>
                </a:solidFill>
                <a:latin typeface="Plus Jakarta Sans"/>
              </a:rPr>
              <a:t>One conversation. Every language.</a:t>
            </a:r>
          </a:p>
          <a:p>
            <a:pPr>
              <a:lnSpc>
                <a:spcPct val="115000"/>
              </a:lnSpc>
              <a:spcBef>
                <a:spcPts val="3000"/>
              </a:spcBef>
            </a:pPr>
            <a:r>
              <a:rPr sz="1350" b="0">
                <a:solidFill>
                  <a:srgbClr val="B3B1BC"/>
                </a:solidFill>
                <a:latin typeface="Inter"/>
              </a:rPr>
              <a:t>See the Content Translator Coworker run on your own content.</a:t>
            </a:r>
          </a:p>
          <a:p>
            <a:pPr>
              <a:lnSpc>
                <a:spcPct val="115000"/>
              </a:lnSpc>
              <a:spcBef>
                <a:spcPts val="600"/>
              </a:spcBef>
            </a:pPr>
            <a:r>
              <a:rPr sz="1350" b="0">
                <a:solidFill>
                  <a:srgbClr val="B3B1BC"/>
                </a:solidFill>
                <a:latin typeface="Inter"/>
              </a:rPr>
              <a:t>Book a demo or start a free trial at smartcat.com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824"/>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A1824"/>
              </a:gs>
              <a:gs pos="48000">
                <a:srgbClr val="1A1824"/>
              </a:gs>
              <a:gs pos="78000">
                <a:srgbClr val="731EF2"/>
              </a:gs>
              <a:gs pos="100000">
                <a:srgbClr val="C326E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600" cy="952500"/>
          </a:xfrm>
          <a:prstGeom prst="rect">
            <a:avLst/>
          </a:prstGeom>
          <a:noFill/>
          <a:effectLst/>
        </p:spPr>
        <p:txBody>
          <a:bodyPr wrap="square" lIns="0" rIns="0" tIns="0" bIns="0">
            <a:spAutoFit/>
          </a:bodyPr>
          <a:lstStyle/>
          <a:p>
            <a:r>
              <a:rPr sz="4800" b="1">
                <a:solidFill>
                  <a:srgbClr val="FFFFFF"/>
                </a:solidFill>
                <a:latin typeface="Plus Jakarta Sans"/>
              </a:rPr>
              <a:t>Thank you!</a:t>
            </a:r>
          </a:p>
        </p:txBody>
      </p:sp>
      <p:pic>
        <p:nvPicPr>
          <p:cNvPr id="4" name="Picture 3" descr="smartcat-logo-white.png"/>
          <p:cNvPicPr>
            <a:picLocks noChangeAspect="1"/>
          </p:cNvPicPr>
          <p:nvPr/>
        </p:nvPicPr>
        <p:blipFill>
          <a:blip r:embed="rId2"/>
          <a:stretch>
            <a:fillRect/>
          </a:stretch>
        </p:blipFill>
        <p:spPr>
          <a:xfrm>
            <a:off x="10415954" y="6172200"/>
            <a:ext cx="1318846" cy="228600"/>
          </a:xfrm>
          <a:prstGeom prst="rect">
            <a:avLst/>
          </a:prstGeom>
          <a:effectLst/>
        </p:spPr>
      </p:pic>
      <p:sp>
        <p:nvSpPr>
          <p:cNvPr id="5" name="TextBox 4"/>
          <p:cNvSpPr txBox="1"/>
          <p:nvPr/>
        </p:nvSpPr>
        <p:spPr>
          <a:xfrm>
            <a:off x="457200" y="6210300"/>
            <a:ext cx="9577754" cy="190500"/>
          </a:xfrm>
          <a:prstGeom prst="rect">
            <a:avLst/>
          </a:prstGeom>
          <a:noFill/>
          <a:effectLst/>
        </p:spPr>
        <p:txBody>
          <a:bodyPr wrap="square" lIns="0" rIns="0" tIns="0" bIns="0">
            <a:spAutoFit/>
          </a:bodyPr>
          <a:lstStyle/>
          <a:p>
            <a:pPr>
              <a:lnSpc>
                <a:spcPct val="115000"/>
              </a:lnSpc>
            </a:pPr>
            <a:r>
              <a:rPr sz="1050" b="0">
                <a:solidFill>
                  <a:srgbClr val="EDB7FB"/>
                </a:solidFill>
                <a:latin typeface="Inter"/>
              </a:rPr>
              <a:t>Smartcat AI Coworkers · Product overview ·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